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6"/>
  </p:sldMasterIdLst>
  <p:notesMasterIdLst>
    <p:notesMasterId r:id="rId14"/>
  </p:notesMasterIdLst>
  <p:sldIdLst>
    <p:sldId id="256" r:id="rId7"/>
    <p:sldId id="259" r:id="rId8"/>
    <p:sldId id="260" r:id="rId9"/>
    <p:sldId id="264" r:id="rId10"/>
    <p:sldId id="266" r:id="rId11"/>
    <p:sldId id="476" r:id="rId12"/>
    <p:sldId id="4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6914"/>
    <a:srgbClr val="EC6528"/>
    <a:srgbClr val="327EC4"/>
    <a:srgbClr val="2D7573"/>
    <a:srgbClr val="348886"/>
    <a:srgbClr val="3A9694"/>
    <a:srgbClr val="7B49A9"/>
    <a:srgbClr val="9933FF"/>
    <a:srgbClr val="ED6B31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4EFB65-3A43-BEB6-D83F-059CE30D97E9}" v="84" dt="2026-03-23T13:21:19.760"/>
    <p1510:client id="{E9A318D3-F716-7DEF-B4F7-8C6B276C65FE}" v="39" dt="2026-03-23T13:13:08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82113-B72D-4A47-9880-6D9D2174D6F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3424A-6C9E-4339-9C33-F3BB31EF59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80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router.jisc.ac.uk/about/institutions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ubrouter.jisc.ac.uk/about/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Main application service integration architecture  (Not shown: Reporting, </a:t>
            </a:r>
            <a:r>
              <a:rPr lang="en-GB"/>
              <a:t>Data deletion).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3424A-6C9E-4339-9C33-F3BB31EF59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476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Deployment architecture -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3424A-6C9E-4339-9C33-F3BB31EF59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817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https://pubrouter.jisc.ac.uk/about/institutions/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https://pubrouter.jisc.ac.uk/about/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1567F-F019-E948-A7D1-1F94AF06001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25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1567F-F019-E948-A7D1-1F94AF06001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87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323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2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91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31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15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50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60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36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51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55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286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7121-3DEE-AD4C-A4FA-0321B9D1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6" y="452967"/>
            <a:ext cx="8691036" cy="45542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3200" b="1" i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2AD00-41ED-1D4B-8053-AD09A51D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4573" y="6165033"/>
            <a:ext cx="4653792" cy="48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Jisc Publications Router - for institutions using EPrints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5B74-E028-E24B-BE9C-E0C09F0D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AF65-ABD8-9745-9161-1D3466EAFE0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6B2469B-2939-42D6-B420-11D52295C3C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611" y="1460360"/>
            <a:ext cx="10838376" cy="46182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>
                <a:lumMod val="95000"/>
              </a:schemeClr>
            </a:solidFill>
            <a:miter lim="800000"/>
          </a:ln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Insert image / infographic</a:t>
            </a:r>
          </a:p>
        </p:txBody>
      </p:sp>
    </p:spTree>
    <p:extLst>
      <p:ext uri="{BB962C8B-B14F-4D97-AF65-F5344CB8AC3E}">
        <p14:creationId xmlns:p14="http://schemas.microsoft.com/office/powerpoint/2010/main" val="67599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4">
          <p15:clr>
            <a:srgbClr val="FBAE40"/>
          </p15:clr>
        </p15:guide>
        <p15:guide id="2" pos="4332">
          <p15:clr>
            <a:srgbClr val="FBAE40"/>
          </p15:clr>
        </p15:guide>
        <p15:guide id="3" orient="horz" pos="78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5D032-5B98-4159-85EA-0F5D56212F5B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99737-A00A-4E1B-8BED-D199DCD2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8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885362" y="3201008"/>
            <a:ext cx="8700940" cy="2891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>
                <a:solidFill>
                  <a:schemeClr val="bg1">
                    <a:lumMod val="50000"/>
                  </a:schemeClr>
                </a:solidFill>
              </a:rPr>
              <a:t>Operation Overview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85362" y="782825"/>
            <a:ext cx="8700940" cy="18475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>
                <a:solidFill>
                  <a:schemeClr val="bg1">
                    <a:lumMod val="50000"/>
                  </a:schemeClr>
                </a:solidFill>
              </a:rPr>
              <a:t>Contractual Framework</a:t>
            </a:r>
          </a:p>
        </p:txBody>
      </p:sp>
      <p:sp>
        <p:nvSpPr>
          <p:cNvPr id="2" name="Rectangle 1"/>
          <p:cNvSpPr/>
          <p:nvPr/>
        </p:nvSpPr>
        <p:spPr>
          <a:xfrm>
            <a:off x="5322324" y="3645000"/>
            <a:ext cx="1552755" cy="12767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Jisc</a:t>
            </a:r>
            <a:r>
              <a:rPr lang="en-GB"/>
              <a:t> Publications Router</a:t>
            </a:r>
          </a:p>
        </p:txBody>
      </p:sp>
      <p:sp>
        <p:nvSpPr>
          <p:cNvPr id="3" name="Flowchart: Alternate Process 2"/>
          <p:cNvSpPr/>
          <p:nvPr/>
        </p:nvSpPr>
        <p:spPr>
          <a:xfrm>
            <a:off x="2104207" y="3974273"/>
            <a:ext cx="1317279" cy="681487"/>
          </a:xfrm>
          <a:prstGeom prst="flowChartAlternateProcess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</p:txBody>
      </p:sp>
      <p:sp>
        <p:nvSpPr>
          <p:cNvPr id="7" name="Flowchart: Alternate Process 6"/>
          <p:cNvSpPr/>
          <p:nvPr/>
        </p:nvSpPr>
        <p:spPr>
          <a:xfrm>
            <a:off x="8982949" y="4080634"/>
            <a:ext cx="1305426" cy="681487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Alternate Process 7"/>
          <p:cNvSpPr/>
          <p:nvPr/>
        </p:nvSpPr>
        <p:spPr>
          <a:xfrm>
            <a:off x="8879432" y="3942612"/>
            <a:ext cx="1305426" cy="681487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Alternate Process 8"/>
          <p:cNvSpPr/>
          <p:nvPr/>
        </p:nvSpPr>
        <p:spPr>
          <a:xfrm>
            <a:off x="8775915" y="3804590"/>
            <a:ext cx="1305426" cy="681487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Repository / CRIS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76000" y="4000842"/>
            <a:ext cx="1553164" cy="623256"/>
          </a:xfrm>
          <a:prstGeom prst="rightArrow">
            <a:avLst>
              <a:gd name="adj1" fmla="val 65405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rIns="0" rtlCol="0" anchor="ctr"/>
          <a:lstStyle/>
          <a:p>
            <a:r>
              <a:rPr lang="en-GB" sz="1200"/>
              <a:t>Publication event: Meta-data &amp;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480" y="1052830"/>
            <a:ext cx="1552755" cy="1276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err="1">
                <a:solidFill>
                  <a:srgbClr val="ED7D31"/>
                </a:solidFill>
              </a:rPr>
              <a:t>Jisc</a:t>
            </a:r>
            <a:endParaRPr lang="en-GB" sz="2800">
              <a:solidFill>
                <a:srgbClr val="ED7D31"/>
              </a:solidFill>
            </a:endParaRPr>
          </a:p>
        </p:txBody>
      </p:sp>
      <p:sp>
        <p:nvSpPr>
          <p:cNvPr id="13" name="Flowchart: Alternate Process 12"/>
          <p:cNvSpPr/>
          <p:nvPr/>
        </p:nvSpPr>
        <p:spPr>
          <a:xfrm>
            <a:off x="2038359" y="1356910"/>
            <a:ext cx="1561381" cy="681487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>
                <a:solidFill>
                  <a:schemeClr val="dk1"/>
                </a:solidFill>
              </a:rPr>
              <a:t>Publisher</a:t>
            </a:r>
          </a:p>
        </p:txBody>
      </p:sp>
      <p:sp>
        <p:nvSpPr>
          <p:cNvPr id="14" name="Flowchart: Alternate Process 13"/>
          <p:cNvSpPr/>
          <p:nvPr/>
        </p:nvSpPr>
        <p:spPr>
          <a:xfrm>
            <a:off x="8723353" y="1356910"/>
            <a:ext cx="1561381" cy="681487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>
                <a:solidFill>
                  <a:schemeClr val="dk1"/>
                </a:solidFill>
              </a:rPr>
              <a:t>Institution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703933" y="1691185"/>
            <a:ext cx="1759790" cy="12938"/>
          </a:xfrm>
          <a:prstGeom prst="straightConnector1">
            <a:avLst/>
          </a:prstGeom>
          <a:ln w="25400"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720511" y="1699810"/>
            <a:ext cx="1759790" cy="8626"/>
          </a:xfrm>
          <a:prstGeom prst="straightConnector1">
            <a:avLst/>
          </a:prstGeom>
          <a:ln w="25400"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93577" y="1350442"/>
            <a:ext cx="15618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/>
              <a:t>Legal Agreement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0235" y="1350442"/>
            <a:ext cx="1580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/>
              <a:t>Legal Agreement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106902" y="4134831"/>
            <a:ext cx="1539155" cy="623257"/>
          </a:xfrm>
          <a:prstGeom prst="rightArrow">
            <a:avLst>
              <a:gd name="adj1" fmla="val 65405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rIns="0" rtlCol="0" anchor="ctr"/>
          <a:lstStyle/>
          <a:p>
            <a:endParaRPr lang="en-GB" sz="1100"/>
          </a:p>
        </p:txBody>
      </p:sp>
      <p:sp>
        <p:nvSpPr>
          <p:cNvPr id="28" name="Right Arrow 27"/>
          <p:cNvSpPr/>
          <p:nvPr/>
        </p:nvSpPr>
        <p:spPr>
          <a:xfrm>
            <a:off x="7069451" y="4066626"/>
            <a:ext cx="1539155" cy="623257"/>
          </a:xfrm>
          <a:prstGeom prst="rightArrow">
            <a:avLst>
              <a:gd name="adj1" fmla="val 65405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rIns="0" rtlCol="0" anchor="ctr"/>
          <a:lstStyle/>
          <a:p>
            <a:endParaRPr lang="en-GB" sz="1100"/>
          </a:p>
        </p:txBody>
      </p:sp>
      <p:sp>
        <p:nvSpPr>
          <p:cNvPr id="24" name="Right Arrow 23"/>
          <p:cNvSpPr/>
          <p:nvPr/>
        </p:nvSpPr>
        <p:spPr>
          <a:xfrm>
            <a:off x="7032000" y="4000842"/>
            <a:ext cx="1539155" cy="623257"/>
          </a:xfrm>
          <a:prstGeom prst="rightArrow">
            <a:avLst>
              <a:gd name="adj1" fmla="val 65405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rIns="0" rtlCol="0" anchor="ctr"/>
          <a:lstStyle/>
          <a:p>
            <a:r>
              <a:rPr lang="en-GB" sz="1200"/>
              <a:t>Publication event Meta-data &amp;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4248" y="4988989"/>
            <a:ext cx="2501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/>
              <a:t>Routing based on matching criteria (author affiliation to institution)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3723" y="2029457"/>
            <a:ext cx="2017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200"/>
              <a:t>Security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200"/>
              <a:t>Embargo periods enforced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2352000" y="4830088"/>
            <a:ext cx="2304000" cy="1080000"/>
          </a:xfrm>
          <a:prstGeom prst="borderCallout1">
            <a:avLst>
              <a:gd name="adj1" fmla="val -4637"/>
              <a:gd name="adj2" fmla="val 72540"/>
              <a:gd name="adj3" fmla="val -27860"/>
              <a:gd name="adj4" fmla="val 781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76200">
              <a:buFont typeface="Arial" panose="020B0604020202020204" pitchFamily="34" charset="0"/>
              <a:buChar char="•"/>
            </a:pPr>
            <a:r>
              <a:rPr lang="en-GB" sz="1050">
                <a:solidFill>
                  <a:schemeClr val="tx1"/>
                </a:solidFill>
              </a:rPr>
              <a:t>on Acceptance &amp;/or Publication</a:t>
            </a:r>
          </a:p>
          <a:p>
            <a:pPr marL="85725" indent="-76200">
              <a:buFont typeface="Arial" panose="020B0604020202020204" pitchFamily="34" charset="0"/>
              <a:buChar char="•"/>
            </a:pPr>
            <a:r>
              <a:rPr lang="en-GB" sz="1050">
                <a:solidFill>
                  <a:schemeClr val="tx1"/>
                </a:solidFill>
              </a:rPr>
              <a:t>includes </a:t>
            </a:r>
            <a:r>
              <a:rPr lang="en-GB" sz="1050" i="1">
                <a:solidFill>
                  <a:schemeClr val="tx1"/>
                </a:solidFill>
              </a:rPr>
              <a:t>publisher’s unique article ID</a:t>
            </a:r>
          </a:p>
          <a:p>
            <a:pPr marL="85725" indent="-76200">
              <a:buFont typeface="Arial" panose="020B0604020202020204" pitchFamily="34" charset="0"/>
              <a:buChar char="•"/>
            </a:pPr>
            <a:r>
              <a:rPr lang="en-GB" sz="1050">
                <a:solidFill>
                  <a:schemeClr val="tx1"/>
                </a:solidFill>
              </a:rPr>
              <a:t>plus, if available:</a:t>
            </a:r>
          </a:p>
          <a:p>
            <a:pPr marL="180975" lvl="1" indent="-85725">
              <a:buFont typeface="Calibri" panose="020F0502020204030204" pitchFamily="34" charset="0"/>
              <a:buChar char="-"/>
            </a:pPr>
            <a:r>
              <a:rPr lang="en-GB" sz="1050">
                <a:solidFill>
                  <a:schemeClr val="tx1"/>
                </a:solidFill>
              </a:rPr>
              <a:t>DOI</a:t>
            </a:r>
          </a:p>
          <a:p>
            <a:pPr marL="180975" lvl="1" indent="-85725">
              <a:buFont typeface="Calibri" panose="020F0502020204030204" pitchFamily="34" charset="0"/>
              <a:buChar char="-"/>
            </a:pPr>
            <a:r>
              <a:rPr lang="en-GB" sz="1050">
                <a:solidFill>
                  <a:schemeClr val="tx1"/>
                </a:solidFill>
              </a:rPr>
              <a:t>Embargo period</a:t>
            </a:r>
          </a:p>
          <a:p>
            <a:pPr marL="180975" lvl="1" indent="-85725">
              <a:buFont typeface="Calibri" panose="020F0502020204030204" pitchFamily="34" charset="0"/>
              <a:buChar char="-"/>
            </a:pPr>
            <a:r>
              <a:rPr lang="en-GB" sz="1050">
                <a:solidFill>
                  <a:schemeClr val="tx1"/>
                </a:solidFill>
              </a:rPr>
              <a:t>Full text (e.g. AM or VOR)</a:t>
            </a:r>
          </a:p>
        </p:txBody>
      </p:sp>
      <p:sp>
        <p:nvSpPr>
          <p:cNvPr id="29" name="Line Callout 1 28"/>
          <p:cNvSpPr/>
          <p:nvPr/>
        </p:nvSpPr>
        <p:spPr>
          <a:xfrm>
            <a:off x="8328000" y="5190088"/>
            <a:ext cx="1872000" cy="504000"/>
          </a:xfrm>
          <a:prstGeom prst="borderCallout1">
            <a:avLst>
              <a:gd name="adj1" fmla="val -7633"/>
              <a:gd name="adj2" fmla="val 37167"/>
              <a:gd name="adj3" fmla="val -137089"/>
              <a:gd name="adj4" fmla="val 4978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/>
            <a:r>
              <a:rPr lang="en-GB" sz="1050">
                <a:solidFill>
                  <a:schemeClr val="tx1"/>
                </a:solidFill>
              </a:rPr>
              <a:t>De-duplication of events must be done by receiving system.</a:t>
            </a:r>
          </a:p>
        </p:txBody>
      </p:sp>
    </p:spTree>
    <p:extLst>
      <p:ext uri="{BB962C8B-B14F-4D97-AF65-F5344CB8AC3E}">
        <p14:creationId xmlns:p14="http://schemas.microsoft.com/office/powerpoint/2010/main" val="411202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298700" y="1905000"/>
            <a:ext cx="7607300" cy="3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>
                <a:solidFill>
                  <a:schemeClr val="bg1">
                    <a:lumMod val="50000"/>
                  </a:schemeClr>
                </a:solidFill>
              </a:rPr>
              <a:t>Currently Supported Data Interchange Formats</a:t>
            </a:r>
          </a:p>
        </p:txBody>
      </p:sp>
      <p:sp>
        <p:nvSpPr>
          <p:cNvPr id="3" name="Flowchart: Alternate Process 2"/>
          <p:cNvSpPr/>
          <p:nvPr/>
        </p:nvSpPr>
        <p:spPr>
          <a:xfrm>
            <a:off x="761571" y="3289129"/>
            <a:ext cx="1317279" cy="681487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Publisher</a:t>
            </a:r>
          </a:p>
        </p:txBody>
      </p:sp>
      <p:sp>
        <p:nvSpPr>
          <p:cNvPr id="9" name="Flowchart: Alternate Process 8"/>
          <p:cNvSpPr/>
          <p:nvPr/>
        </p:nvSpPr>
        <p:spPr>
          <a:xfrm>
            <a:off x="10123697" y="3289129"/>
            <a:ext cx="1305426" cy="681487"/>
          </a:xfrm>
          <a:prstGeom prst="flowChartAlternateProcess">
            <a:avLst/>
          </a:prstGeom>
          <a:solidFill>
            <a:srgbClr val="327EC4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Repository / CRIS</a:t>
            </a:r>
          </a:p>
        </p:txBody>
      </p:sp>
      <p:sp>
        <p:nvSpPr>
          <p:cNvPr id="25" name="Flowchart: Alternate Process 24"/>
          <p:cNvSpPr/>
          <p:nvPr/>
        </p:nvSpPr>
        <p:spPr>
          <a:xfrm>
            <a:off x="4295657" y="4141285"/>
            <a:ext cx="1226739" cy="542396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/>
              <a:t>Native API</a:t>
            </a:r>
          </a:p>
          <a:p>
            <a:r>
              <a:rPr lang="en-GB" sz="1600"/>
              <a:t>Push</a:t>
            </a:r>
          </a:p>
        </p:txBody>
      </p:sp>
      <p:sp>
        <p:nvSpPr>
          <p:cNvPr id="29" name="Flowchart: Alternate Process 28"/>
          <p:cNvSpPr/>
          <p:nvPr/>
        </p:nvSpPr>
        <p:spPr>
          <a:xfrm>
            <a:off x="6684532" y="4141285"/>
            <a:ext cx="1226739" cy="542396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GB" sz="1600"/>
              <a:t>Native API</a:t>
            </a:r>
          </a:p>
          <a:p>
            <a:pPr algn="r"/>
            <a:r>
              <a:rPr lang="en-GB" sz="1600"/>
              <a:t>Pull</a:t>
            </a:r>
          </a:p>
        </p:txBody>
      </p:sp>
      <p:sp>
        <p:nvSpPr>
          <p:cNvPr id="30" name="Flowchart: Alternate Process 29"/>
          <p:cNvSpPr/>
          <p:nvPr/>
        </p:nvSpPr>
        <p:spPr>
          <a:xfrm>
            <a:off x="4295581" y="2627788"/>
            <a:ext cx="1226739" cy="54360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/>
              <a:t>FTP</a:t>
            </a:r>
          </a:p>
          <a:p>
            <a:r>
              <a:rPr lang="en-GB" sz="1600"/>
              <a:t>Push</a:t>
            </a:r>
          </a:p>
        </p:txBody>
      </p:sp>
      <p:sp>
        <p:nvSpPr>
          <p:cNvPr id="31" name="Flowchart: Alternate Process 30"/>
          <p:cNvSpPr/>
          <p:nvPr/>
        </p:nvSpPr>
        <p:spPr>
          <a:xfrm>
            <a:off x="4302334" y="3376150"/>
            <a:ext cx="1226739" cy="54360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/>
              <a:t>SWORD2 Push</a:t>
            </a:r>
          </a:p>
        </p:txBody>
      </p:sp>
      <p:sp>
        <p:nvSpPr>
          <p:cNvPr id="34" name="Flowchart: Alternate Process 33"/>
          <p:cNvSpPr/>
          <p:nvPr/>
        </p:nvSpPr>
        <p:spPr>
          <a:xfrm>
            <a:off x="6680870" y="3377741"/>
            <a:ext cx="1226739" cy="542396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GB" sz="1600"/>
              <a:t>OAI-PMH</a:t>
            </a:r>
          </a:p>
          <a:p>
            <a:pPr algn="r"/>
            <a:r>
              <a:rPr lang="en-GB" sz="1600"/>
              <a:t>Pull</a:t>
            </a:r>
          </a:p>
        </p:txBody>
      </p:sp>
      <p:sp>
        <p:nvSpPr>
          <p:cNvPr id="35" name="Flowchart: Alternate Process 34"/>
          <p:cNvSpPr/>
          <p:nvPr/>
        </p:nvSpPr>
        <p:spPr>
          <a:xfrm>
            <a:off x="6680869" y="2630072"/>
            <a:ext cx="1226739" cy="542396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GB" sz="1600"/>
              <a:t>SWORD2 Push</a:t>
            </a:r>
          </a:p>
        </p:txBody>
      </p:sp>
      <p:sp>
        <p:nvSpPr>
          <p:cNvPr id="2" name="Rectangle 1"/>
          <p:cNvSpPr/>
          <p:nvPr/>
        </p:nvSpPr>
        <p:spPr>
          <a:xfrm>
            <a:off x="5322324" y="2378196"/>
            <a:ext cx="1552755" cy="25628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err="1"/>
              <a:t>Jisc</a:t>
            </a:r>
            <a:r>
              <a:rPr lang="en-GB"/>
              <a:t> Publications Router</a:t>
            </a:r>
          </a:p>
        </p:txBody>
      </p:sp>
      <p:sp>
        <p:nvSpPr>
          <p:cNvPr id="11" name="Pentagon 10"/>
          <p:cNvSpPr/>
          <p:nvPr/>
        </p:nvSpPr>
        <p:spPr>
          <a:xfrm>
            <a:off x="2628900" y="2633664"/>
            <a:ext cx="1419225" cy="1285874"/>
          </a:xfrm>
          <a:prstGeom prst="homePlate">
            <a:avLst>
              <a:gd name="adj" fmla="val 22402"/>
            </a:avLst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lt1"/>
                </a:solidFill>
              </a:rPr>
              <a:t>JATS NLM XML</a:t>
            </a:r>
          </a:p>
        </p:txBody>
      </p:sp>
      <p:sp>
        <p:nvSpPr>
          <p:cNvPr id="38" name="Pentagon 37"/>
          <p:cNvSpPr/>
          <p:nvPr/>
        </p:nvSpPr>
        <p:spPr>
          <a:xfrm>
            <a:off x="2628900" y="4146353"/>
            <a:ext cx="1409701" cy="533400"/>
          </a:xfrm>
          <a:prstGeom prst="homePlate">
            <a:avLst>
              <a:gd name="adj" fmla="val 34687"/>
            </a:avLst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err="1">
                <a:solidFill>
                  <a:schemeClr val="lt1"/>
                </a:solidFill>
              </a:rPr>
              <a:t>PubRouter</a:t>
            </a:r>
            <a:r>
              <a:rPr lang="en-GB" sz="1600">
                <a:solidFill>
                  <a:schemeClr val="lt1"/>
                </a:solidFill>
              </a:rPr>
              <a:t> JSON</a:t>
            </a:r>
          </a:p>
        </p:txBody>
      </p:sp>
      <p:sp>
        <p:nvSpPr>
          <p:cNvPr id="39" name="Pentagon 38"/>
          <p:cNvSpPr/>
          <p:nvPr/>
        </p:nvSpPr>
        <p:spPr>
          <a:xfrm>
            <a:off x="8191500" y="4146353"/>
            <a:ext cx="1409701" cy="533400"/>
          </a:xfrm>
          <a:prstGeom prst="homePlate">
            <a:avLst>
              <a:gd name="adj" fmla="val 34687"/>
            </a:avLst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err="1">
                <a:solidFill>
                  <a:schemeClr val="lt1"/>
                </a:solidFill>
              </a:rPr>
              <a:t>PubRouter</a:t>
            </a:r>
            <a:r>
              <a:rPr lang="en-GB" sz="1600">
                <a:solidFill>
                  <a:schemeClr val="lt1"/>
                </a:solidFill>
              </a:rPr>
              <a:t> JSON</a:t>
            </a:r>
          </a:p>
        </p:txBody>
      </p:sp>
      <p:sp>
        <p:nvSpPr>
          <p:cNvPr id="40" name="Pentagon 39"/>
          <p:cNvSpPr/>
          <p:nvPr/>
        </p:nvSpPr>
        <p:spPr>
          <a:xfrm>
            <a:off x="8191500" y="2633664"/>
            <a:ext cx="1390651" cy="533400"/>
          </a:xfrm>
          <a:prstGeom prst="homePlate">
            <a:avLst>
              <a:gd name="adj" fmla="val 25758"/>
            </a:avLst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lt1"/>
                </a:solidFill>
              </a:rPr>
              <a:t>JATS NLM XML</a:t>
            </a:r>
          </a:p>
        </p:txBody>
      </p:sp>
      <p:sp>
        <p:nvSpPr>
          <p:cNvPr id="41" name="Pentagon 40"/>
          <p:cNvSpPr/>
          <p:nvPr/>
        </p:nvSpPr>
        <p:spPr>
          <a:xfrm>
            <a:off x="8191500" y="3381376"/>
            <a:ext cx="1390651" cy="533400"/>
          </a:xfrm>
          <a:prstGeom prst="homePlate">
            <a:avLst>
              <a:gd name="adj" fmla="val 25758"/>
            </a:avLst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err="1">
                <a:solidFill>
                  <a:schemeClr val="lt1"/>
                </a:solidFill>
              </a:rPr>
              <a:t>Oai_dc</a:t>
            </a:r>
            <a:r>
              <a:rPr lang="en-GB" sz="1600">
                <a:solidFill>
                  <a:schemeClr val="lt1"/>
                </a:solidFill>
              </a:rPr>
              <a:t> &amp; </a:t>
            </a:r>
            <a:r>
              <a:rPr lang="en-GB" sz="1600" err="1">
                <a:solidFill>
                  <a:schemeClr val="lt1"/>
                </a:solidFill>
              </a:rPr>
              <a:t>oai_ore</a:t>
            </a:r>
            <a:r>
              <a:rPr lang="en-GB" sz="1600">
                <a:solidFill>
                  <a:schemeClr val="lt1"/>
                </a:solidFill>
              </a:rPr>
              <a:t> XML</a:t>
            </a:r>
          </a:p>
        </p:txBody>
      </p:sp>
    </p:spTree>
    <p:extLst>
      <p:ext uri="{BB962C8B-B14F-4D97-AF65-F5344CB8AC3E}">
        <p14:creationId xmlns:p14="http://schemas.microsoft.com/office/powerpoint/2010/main" val="337548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E0F48159-344F-22E8-2DCD-C7AA8EAC3997}"/>
              </a:ext>
            </a:extLst>
          </p:cNvPr>
          <p:cNvSpPr/>
          <p:nvPr/>
        </p:nvSpPr>
        <p:spPr>
          <a:xfrm>
            <a:off x="3327051" y="5024148"/>
            <a:ext cx="1226739" cy="542396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/>
              <a:t>Harvester</a:t>
            </a:r>
          </a:p>
        </p:txBody>
      </p:sp>
      <p:sp>
        <p:nvSpPr>
          <p:cNvPr id="70" name="Flowchart: Alternate Process 69"/>
          <p:cNvSpPr/>
          <p:nvPr/>
        </p:nvSpPr>
        <p:spPr>
          <a:xfrm>
            <a:off x="3320374" y="4145244"/>
            <a:ext cx="1226739" cy="542396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600" dirty="0"/>
          </a:p>
          <a:p>
            <a:r>
              <a:rPr lang="en-GB" sz="1600" dirty="0"/>
              <a:t>SWORD2 Push</a:t>
            </a:r>
          </a:p>
          <a:p>
            <a:endParaRPr lang="en-GB" sz="1600" dirty="0"/>
          </a:p>
        </p:txBody>
      </p:sp>
      <p:sp>
        <p:nvSpPr>
          <p:cNvPr id="64" name="Flowchart: Alternate Process 63"/>
          <p:cNvSpPr/>
          <p:nvPr/>
        </p:nvSpPr>
        <p:spPr>
          <a:xfrm>
            <a:off x="7677078" y="3538088"/>
            <a:ext cx="1226739" cy="542396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dirty="0"/>
              <a:t>Native API</a:t>
            </a:r>
          </a:p>
          <a:p>
            <a:pPr algn="r"/>
            <a:r>
              <a:rPr lang="en-GB" sz="1600" dirty="0"/>
              <a:t>Pull</a:t>
            </a:r>
          </a:p>
        </p:txBody>
      </p:sp>
      <p:sp>
        <p:nvSpPr>
          <p:cNvPr id="43" name="Flowchart: Alternate Process 42"/>
          <p:cNvSpPr/>
          <p:nvPr/>
        </p:nvSpPr>
        <p:spPr>
          <a:xfrm>
            <a:off x="3320298" y="2919429"/>
            <a:ext cx="1226739" cy="543600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/>
              <a:t>FTP</a:t>
            </a:r>
          </a:p>
          <a:p>
            <a:r>
              <a:rPr lang="en-GB" sz="1600" dirty="0"/>
              <a:t>Push</a:t>
            </a:r>
          </a:p>
        </p:txBody>
      </p:sp>
      <p:sp>
        <p:nvSpPr>
          <p:cNvPr id="44" name="Flowchart: Alternate Process 43"/>
          <p:cNvSpPr/>
          <p:nvPr/>
        </p:nvSpPr>
        <p:spPr>
          <a:xfrm>
            <a:off x="3327051" y="3537049"/>
            <a:ext cx="1226739" cy="543600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/>
              <a:t>Native API</a:t>
            </a:r>
          </a:p>
          <a:p>
            <a:r>
              <a:rPr lang="en-GB" sz="1600" dirty="0"/>
              <a:t>Push</a:t>
            </a:r>
          </a:p>
        </p:txBody>
      </p:sp>
      <p:sp>
        <p:nvSpPr>
          <p:cNvPr id="16" name="Flowchart: Alternate Process 15"/>
          <p:cNvSpPr/>
          <p:nvPr/>
        </p:nvSpPr>
        <p:spPr>
          <a:xfrm>
            <a:off x="7673415" y="2919429"/>
            <a:ext cx="1226739" cy="542396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dirty="0"/>
              <a:t>SWORD2 Push</a:t>
            </a:r>
          </a:p>
        </p:txBody>
      </p:sp>
      <p:sp>
        <p:nvSpPr>
          <p:cNvPr id="2" name="Rectangle 1"/>
          <p:cNvSpPr/>
          <p:nvPr/>
        </p:nvSpPr>
        <p:spPr>
          <a:xfrm>
            <a:off x="4345756" y="2205000"/>
            <a:ext cx="3535052" cy="38080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Messaging Service</a:t>
            </a:r>
          </a:p>
        </p:txBody>
      </p:sp>
      <p:sp>
        <p:nvSpPr>
          <p:cNvPr id="3" name="Flowchart: Alternate Process 2"/>
          <p:cNvSpPr/>
          <p:nvPr/>
        </p:nvSpPr>
        <p:spPr>
          <a:xfrm>
            <a:off x="1129261" y="3429110"/>
            <a:ext cx="1317279" cy="681487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</p:txBody>
      </p:sp>
      <p:sp>
        <p:nvSpPr>
          <p:cNvPr id="9" name="Flowchart: Alternate Process 8"/>
          <p:cNvSpPr/>
          <p:nvPr/>
        </p:nvSpPr>
        <p:spPr>
          <a:xfrm>
            <a:off x="9824969" y="3429109"/>
            <a:ext cx="1305426" cy="681487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Repository or CRIS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5031" y="3958342"/>
            <a:ext cx="11911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Repository pulls notifications</a:t>
            </a:r>
          </a:p>
        </p:txBody>
      </p:sp>
      <p:sp>
        <p:nvSpPr>
          <p:cNvPr id="5" name="Flowchart: Process 4"/>
          <p:cNvSpPr/>
          <p:nvPr/>
        </p:nvSpPr>
        <p:spPr>
          <a:xfrm>
            <a:off x="4674538" y="3565054"/>
            <a:ext cx="2884493" cy="466338"/>
          </a:xfrm>
          <a:prstGeom prst="flowChartProcess">
            <a:avLst/>
          </a:prstGeom>
          <a:solidFill>
            <a:srgbClr val="E66914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API</a:t>
            </a:r>
          </a:p>
        </p:txBody>
      </p:sp>
      <p:sp>
        <p:nvSpPr>
          <p:cNvPr id="30" name="Flowchart: Process 29"/>
          <p:cNvSpPr/>
          <p:nvPr/>
        </p:nvSpPr>
        <p:spPr>
          <a:xfrm>
            <a:off x="6096000" y="2720996"/>
            <a:ext cx="1430708" cy="718392"/>
          </a:xfrm>
          <a:prstGeom prst="flowChartProcess">
            <a:avLst/>
          </a:prstGeom>
          <a:solidFill>
            <a:srgbClr val="E66914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FTP wrapper</a:t>
            </a:r>
          </a:p>
        </p:txBody>
      </p:sp>
      <p:sp>
        <p:nvSpPr>
          <p:cNvPr id="34" name="Flowchart: Process 33"/>
          <p:cNvSpPr/>
          <p:nvPr/>
        </p:nvSpPr>
        <p:spPr>
          <a:xfrm>
            <a:off x="4655682" y="2721966"/>
            <a:ext cx="1471290" cy="718392"/>
          </a:xfrm>
          <a:prstGeom prst="flowChartProcess">
            <a:avLst/>
          </a:prstGeom>
          <a:solidFill>
            <a:srgbClr val="E66914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SWORD2 wrapper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5756" y="439118"/>
            <a:ext cx="3535052" cy="13025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>
                <a:solidFill>
                  <a:schemeClr val="bg1">
                    <a:lumMod val="50000"/>
                  </a:schemeClr>
                </a:solidFill>
              </a:rPr>
              <a:t>Web Applications</a:t>
            </a:r>
          </a:p>
        </p:txBody>
      </p:sp>
      <p:sp>
        <p:nvSpPr>
          <p:cNvPr id="36" name="Flowchart: Direct Access Storage 35"/>
          <p:cNvSpPr/>
          <p:nvPr/>
        </p:nvSpPr>
        <p:spPr>
          <a:xfrm>
            <a:off x="4578566" y="5022844"/>
            <a:ext cx="1471290" cy="749720"/>
          </a:xfrm>
          <a:prstGeom prst="flowChartMagneticDrum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en-GB" sz="1200"/>
          </a:p>
        </p:txBody>
      </p:sp>
      <p:sp>
        <p:nvSpPr>
          <p:cNvPr id="11" name="TextBox 10"/>
          <p:cNvSpPr txBox="1"/>
          <p:nvPr/>
        </p:nvSpPr>
        <p:spPr>
          <a:xfrm>
            <a:off x="4691409" y="5033861"/>
            <a:ext cx="1199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</a:rPr>
              <a:t>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1410" y="5281523"/>
            <a:ext cx="13395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sz="1300" dirty="0"/>
              <a:t>(publisher &amp; institution data) </a:t>
            </a:r>
          </a:p>
        </p:txBody>
      </p:sp>
      <p:sp>
        <p:nvSpPr>
          <p:cNvPr id="38" name="Flowchart: Direct Access Storage 37"/>
          <p:cNvSpPr/>
          <p:nvPr/>
        </p:nvSpPr>
        <p:spPr>
          <a:xfrm>
            <a:off x="6183417" y="5005054"/>
            <a:ext cx="1471290" cy="749720"/>
          </a:xfrm>
          <a:prstGeom prst="flowChartMagneticDrum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en-GB" sz="1200"/>
          </a:p>
        </p:txBody>
      </p:sp>
      <p:sp>
        <p:nvSpPr>
          <p:cNvPr id="39" name="TextBox 38"/>
          <p:cNvSpPr txBox="1"/>
          <p:nvPr/>
        </p:nvSpPr>
        <p:spPr>
          <a:xfrm>
            <a:off x="6296260" y="5016070"/>
            <a:ext cx="10957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Publication Notification Queue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579401" y="3288302"/>
            <a:ext cx="684692" cy="368873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2588828" y="3781553"/>
            <a:ext cx="682018" cy="1447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>
            <a:off x="9002997" y="3288474"/>
            <a:ext cx="675265" cy="291826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568000" y="5301000"/>
            <a:ext cx="641909" cy="2118"/>
          </a:xfrm>
          <a:prstGeom prst="straightConnector1">
            <a:avLst/>
          </a:prstGeom>
          <a:ln w="25400">
            <a:headEnd type="arrow" w="med" len="sm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046861" y="2843067"/>
            <a:ext cx="942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Push to repository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129260" y="2227833"/>
            <a:ext cx="3204645" cy="401221"/>
          </a:xfrm>
          <a:prstGeom prst="rightArrow">
            <a:avLst>
              <a:gd name="adj1" fmla="val 65405"/>
              <a:gd name="adj2" fmla="val 50000"/>
            </a:avLst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rIns="0" rtlCol="0" anchor="ctr"/>
          <a:lstStyle/>
          <a:p>
            <a:pPr algn="ctr"/>
            <a:r>
              <a:rPr lang="en-GB" sz="1400" dirty="0"/>
              <a:t>Publication notification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887925" y="2227833"/>
            <a:ext cx="3204645" cy="401221"/>
          </a:xfrm>
          <a:prstGeom prst="rightArrow">
            <a:avLst>
              <a:gd name="adj1" fmla="val 65405"/>
              <a:gd name="adj2" fmla="val 50000"/>
            </a:avLst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rIns="0" rtlCol="0" anchor="ctr"/>
          <a:lstStyle/>
          <a:p>
            <a:pPr algn="ctr"/>
            <a:r>
              <a:rPr lang="en-GB" sz="1400" dirty="0"/>
              <a:t>Matched Publication notification</a:t>
            </a:r>
          </a:p>
        </p:txBody>
      </p:sp>
      <p:sp>
        <p:nvSpPr>
          <p:cNvPr id="53" name="Flowchart: Alternate Process 52"/>
          <p:cNvSpPr/>
          <p:nvPr/>
        </p:nvSpPr>
        <p:spPr>
          <a:xfrm>
            <a:off x="4763363" y="943589"/>
            <a:ext cx="1333893" cy="610216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/>
              <a:t>Administration</a:t>
            </a:r>
          </a:p>
        </p:txBody>
      </p:sp>
      <p:sp>
        <p:nvSpPr>
          <p:cNvPr id="54" name="Flowchart: Alternate Process 53"/>
          <p:cNvSpPr/>
          <p:nvPr/>
        </p:nvSpPr>
        <p:spPr>
          <a:xfrm>
            <a:off x="6202107" y="943589"/>
            <a:ext cx="1333893" cy="610216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/>
              <a:t>Reporting</a:t>
            </a:r>
          </a:p>
        </p:txBody>
      </p:sp>
      <p:sp>
        <p:nvSpPr>
          <p:cNvPr id="55" name="Flowchart: Alternate Process 54"/>
          <p:cNvSpPr/>
          <p:nvPr/>
        </p:nvSpPr>
        <p:spPr>
          <a:xfrm>
            <a:off x="2232211" y="883858"/>
            <a:ext cx="1295721" cy="681487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lt1"/>
                </a:solidFill>
              </a:rPr>
              <a:t>Publisher</a:t>
            </a:r>
          </a:p>
        </p:txBody>
      </p:sp>
      <p:sp>
        <p:nvSpPr>
          <p:cNvPr id="56" name="Flowchart: Alternate Process 55"/>
          <p:cNvSpPr/>
          <p:nvPr/>
        </p:nvSpPr>
        <p:spPr>
          <a:xfrm>
            <a:off x="8743413" y="883858"/>
            <a:ext cx="1347937" cy="681487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lt1"/>
                </a:solidFill>
              </a:rPr>
              <a:t>Institution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7972766" y="1212116"/>
            <a:ext cx="673147" cy="0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609166" y="1212116"/>
            <a:ext cx="673147" cy="0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411175" y="2886405"/>
            <a:ext cx="942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Push to Router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2579401" y="3969992"/>
            <a:ext cx="684692" cy="430148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Flowchart: Process 39"/>
          <p:cNvSpPr/>
          <p:nvPr/>
        </p:nvSpPr>
        <p:spPr>
          <a:xfrm>
            <a:off x="4674537" y="4141054"/>
            <a:ext cx="2884493" cy="742542"/>
          </a:xfrm>
          <a:prstGeom prst="flowChartProcess">
            <a:avLst/>
          </a:prstGeom>
          <a:solidFill>
            <a:srgbClr val="E66914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Notification to repository matching process</a:t>
            </a:r>
          </a:p>
        </p:txBody>
      </p:sp>
      <p:sp>
        <p:nvSpPr>
          <p:cNvPr id="41" name="Line Callout 1 40"/>
          <p:cNvSpPr/>
          <p:nvPr/>
        </p:nvSpPr>
        <p:spPr>
          <a:xfrm>
            <a:off x="5544709" y="6157054"/>
            <a:ext cx="2719413" cy="242732"/>
          </a:xfrm>
          <a:prstGeom prst="borderCallout1">
            <a:avLst>
              <a:gd name="adj1" fmla="val -9977"/>
              <a:gd name="adj2" fmla="val 50409"/>
              <a:gd name="adj3" fmla="val -140519"/>
              <a:gd name="adj4" fmla="val 523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9525"/>
            <a:r>
              <a:rPr lang="en-GB" sz="1200" dirty="0">
                <a:solidFill>
                  <a:schemeClr val="tx1"/>
                </a:solidFill>
              </a:rPr>
              <a:t>Temporary notification storage (90 days)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8976000" y="3781685"/>
            <a:ext cx="641909" cy="2118"/>
          </a:xfrm>
          <a:prstGeom prst="straightConnector1">
            <a:avLst/>
          </a:prstGeom>
          <a:ln w="25400">
            <a:headEnd type="arrow" w="med" len="sm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AC46DA4-FCED-4AD4-9BD9-9A04F93F140C}"/>
              </a:ext>
            </a:extLst>
          </p:cNvPr>
          <p:cNvSpPr/>
          <p:nvPr/>
        </p:nvSpPr>
        <p:spPr>
          <a:xfrm>
            <a:off x="1134316" y="4960256"/>
            <a:ext cx="1317279" cy="681487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Provider</a:t>
            </a:r>
          </a:p>
        </p:txBody>
      </p:sp>
      <p:sp>
        <p:nvSpPr>
          <p:cNvPr id="13" name="Line Callout 1 40">
            <a:extLst>
              <a:ext uri="{FF2B5EF4-FFF2-40B4-BE49-F238E27FC236}">
                <a16:creationId xmlns:a16="http://schemas.microsoft.com/office/drawing/2014/main" id="{77BA7F14-63FD-4F73-B9FB-FE5712E3E734}"/>
              </a:ext>
            </a:extLst>
          </p:cNvPr>
          <p:cNvSpPr/>
          <p:nvPr/>
        </p:nvSpPr>
        <p:spPr>
          <a:xfrm>
            <a:off x="9341224" y="4980959"/>
            <a:ext cx="1789171" cy="1418827"/>
          </a:xfrm>
          <a:prstGeom prst="borderCallout1">
            <a:avLst>
              <a:gd name="adj1" fmla="val -2759"/>
              <a:gd name="adj2" fmla="val 77394"/>
              <a:gd name="adj3" fmla="val -57264"/>
              <a:gd name="adj4" fmla="val 7144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dirty="0"/>
              <a:t>Repository/CRIS only receives notifications that correspond to the matching criteria defined by the Repository owner (via API or  administration interface).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223D26-5F73-1FA6-673F-FDBC3D2AE00F}"/>
              </a:ext>
            </a:extLst>
          </p:cNvPr>
          <p:cNvSpPr/>
          <p:nvPr/>
        </p:nvSpPr>
        <p:spPr>
          <a:xfrm rot="16200000">
            <a:off x="-104319" y="942364"/>
            <a:ext cx="1649503" cy="446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User interface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F7A998-D33D-351C-69E3-9632A5CDCED1}"/>
              </a:ext>
            </a:extLst>
          </p:cNvPr>
          <p:cNvSpPr/>
          <p:nvPr/>
        </p:nvSpPr>
        <p:spPr>
          <a:xfrm rot="16200000">
            <a:off x="-1338071" y="4120417"/>
            <a:ext cx="4112636" cy="446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Server messaging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211ED-7519-CE30-2996-856D40DE353F}"/>
              </a:ext>
            </a:extLst>
          </p:cNvPr>
          <p:cNvSpPr txBox="1"/>
          <p:nvPr/>
        </p:nvSpPr>
        <p:spPr>
          <a:xfrm>
            <a:off x="2504966" y="5381092"/>
            <a:ext cx="942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Pull from provider</a:t>
            </a:r>
          </a:p>
        </p:txBody>
      </p:sp>
    </p:spTree>
    <p:extLst>
      <p:ext uri="{BB962C8B-B14F-4D97-AF65-F5344CB8AC3E}">
        <p14:creationId xmlns:p14="http://schemas.microsoft.com/office/powerpoint/2010/main" val="309626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622993-5091-4FF9-8111-035490A69B00}"/>
              </a:ext>
            </a:extLst>
          </p:cNvPr>
          <p:cNvSpPr/>
          <p:nvPr/>
        </p:nvSpPr>
        <p:spPr>
          <a:xfrm>
            <a:off x="1570478" y="1526745"/>
            <a:ext cx="4868040" cy="5853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Gateway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F3680-1272-4C53-8EB1-E81EEA2FC46E}"/>
              </a:ext>
            </a:extLst>
          </p:cNvPr>
          <p:cNvSpPr/>
          <p:nvPr/>
        </p:nvSpPr>
        <p:spPr>
          <a:xfrm>
            <a:off x="2442164" y="2480441"/>
            <a:ext cx="3350693" cy="2606565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/>
              <a:t>App1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45A32C-CF1F-430D-A379-842343B38386}"/>
              </a:ext>
            </a:extLst>
          </p:cNvPr>
          <p:cNvSpPr/>
          <p:nvPr/>
        </p:nvSpPr>
        <p:spPr>
          <a:xfrm>
            <a:off x="6607296" y="2489966"/>
            <a:ext cx="4436543" cy="2568465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/>
              <a:t>App2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B9B211-B2F4-4B63-9180-7AABE17D3899}"/>
              </a:ext>
            </a:extLst>
          </p:cNvPr>
          <p:cNvSpPr/>
          <p:nvPr/>
        </p:nvSpPr>
        <p:spPr>
          <a:xfrm>
            <a:off x="1570478" y="3903498"/>
            <a:ext cx="931181" cy="51083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SFTP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ABDAF057-E977-4FB0-9AE9-0B1A1B6DB7F4}"/>
              </a:ext>
            </a:extLst>
          </p:cNvPr>
          <p:cNvSpPr/>
          <p:nvPr/>
        </p:nvSpPr>
        <p:spPr>
          <a:xfrm>
            <a:off x="9094758" y="4679279"/>
            <a:ext cx="1686187" cy="733697"/>
          </a:xfrm>
          <a:prstGeom prst="flowChartMagneticDisk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Disk: Long</a:t>
            </a:r>
            <a:br>
              <a:rPr lang="en-GB" dirty="0"/>
            </a:br>
            <a:r>
              <a:rPr lang="en-GB" dirty="0"/>
              <a:t> term store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CDCED3-35A1-4D29-9A8D-8E51316E12D0}"/>
              </a:ext>
            </a:extLst>
          </p:cNvPr>
          <p:cNvSpPr/>
          <p:nvPr/>
        </p:nvSpPr>
        <p:spPr>
          <a:xfrm>
            <a:off x="2907815" y="3010252"/>
            <a:ext cx="969811" cy="4056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595360-4BC1-4823-B856-DFE17ED1D059}"/>
              </a:ext>
            </a:extLst>
          </p:cNvPr>
          <p:cNvSpPr/>
          <p:nvPr/>
        </p:nvSpPr>
        <p:spPr>
          <a:xfrm>
            <a:off x="2907814" y="3623937"/>
            <a:ext cx="969811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Move FTP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EE00AC-1789-43CD-ADB0-185DD73831E1}"/>
              </a:ext>
            </a:extLst>
          </p:cNvPr>
          <p:cNvSpPr/>
          <p:nvPr/>
        </p:nvSpPr>
        <p:spPr>
          <a:xfrm>
            <a:off x="7036887" y="4089789"/>
            <a:ext cx="969812" cy="6399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Store API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F58CD53-546B-408A-8179-2CF782C1BADF}"/>
              </a:ext>
            </a:extLst>
          </p:cNvPr>
          <p:cNvSpPr/>
          <p:nvPr/>
        </p:nvSpPr>
        <p:spPr>
          <a:xfrm>
            <a:off x="9768409" y="3038049"/>
            <a:ext cx="979532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tIns="45720" rIns="72000" bIns="4572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SWORD Out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74D0F4-6858-4D5C-9E0E-FC25C299CC44}"/>
              </a:ext>
            </a:extLst>
          </p:cNvPr>
          <p:cNvSpPr/>
          <p:nvPr/>
        </p:nvSpPr>
        <p:spPr>
          <a:xfrm>
            <a:off x="4297720" y="3010252"/>
            <a:ext cx="969811" cy="4056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7EB25D8B-A910-B0E2-B3D2-39E307CE5DDC}"/>
              </a:ext>
            </a:extLst>
          </p:cNvPr>
          <p:cNvSpPr/>
          <p:nvPr/>
        </p:nvSpPr>
        <p:spPr>
          <a:xfrm>
            <a:off x="1570478" y="4679279"/>
            <a:ext cx="1686187" cy="733697"/>
          </a:xfrm>
          <a:prstGeom prst="flowChartMagneticDisk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Disk: Short term store</a:t>
            </a:r>
          </a:p>
        </p:txBody>
      </p:sp>
      <p:sp>
        <p:nvSpPr>
          <p:cNvPr id="17" name="Rectangle: Single Corner Snipped 16">
            <a:extLst>
              <a:ext uri="{FF2B5EF4-FFF2-40B4-BE49-F238E27FC236}">
                <a16:creationId xmlns:a16="http://schemas.microsoft.com/office/drawing/2014/main" id="{DD17869B-B9C0-20A9-911D-DE447187FF06}"/>
              </a:ext>
            </a:extLst>
          </p:cNvPr>
          <p:cNvSpPr/>
          <p:nvPr/>
        </p:nvSpPr>
        <p:spPr>
          <a:xfrm>
            <a:off x="3865341" y="5714529"/>
            <a:ext cx="1632845" cy="677773"/>
          </a:xfrm>
          <a:prstGeom prst="snip1Rect">
            <a:avLst/>
          </a:prstGeom>
          <a:solidFill>
            <a:srgbClr val="3A9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Elasticsearch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9942CA-3D4D-0624-EDB2-2C32469B2E26}"/>
              </a:ext>
            </a:extLst>
          </p:cNvPr>
          <p:cNvSpPr/>
          <p:nvPr/>
        </p:nvSpPr>
        <p:spPr>
          <a:xfrm>
            <a:off x="4288158" y="4489672"/>
            <a:ext cx="979373" cy="4091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Harvest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677A1425-5321-E03D-66C9-D1D235C04B00}"/>
              </a:ext>
            </a:extLst>
          </p:cNvPr>
          <p:cNvSpPr/>
          <p:nvPr/>
        </p:nvSpPr>
        <p:spPr>
          <a:xfrm>
            <a:off x="5851752" y="5714528"/>
            <a:ext cx="1784383" cy="677773"/>
          </a:xfrm>
          <a:prstGeom prst="snip1Rect">
            <a:avLst/>
          </a:prstGeom>
          <a:solidFill>
            <a:srgbClr val="3A9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MySQL (RDS)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B441B6-041A-EACE-8BBF-0AC9F8AD7DB4}"/>
              </a:ext>
            </a:extLst>
          </p:cNvPr>
          <p:cNvSpPr/>
          <p:nvPr/>
        </p:nvSpPr>
        <p:spPr>
          <a:xfrm>
            <a:off x="8246562" y="3038049"/>
            <a:ext cx="1182149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 unrouted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45D2912-6183-2557-D068-6D6FB53B74BE}"/>
              </a:ext>
            </a:extLst>
          </p:cNvPr>
          <p:cNvSpPr/>
          <p:nvPr/>
        </p:nvSpPr>
        <p:spPr>
          <a:xfrm>
            <a:off x="4297721" y="3620162"/>
            <a:ext cx="969811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FTP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BD0A6C4-4C8B-D7C9-F461-EBDBA2654E49}"/>
              </a:ext>
            </a:extLst>
          </p:cNvPr>
          <p:cNvSpPr/>
          <p:nvPr/>
        </p:nvSpPr>
        <p:spPr>
          <a:xfrm>
            <a:off x="1547907" y="507699"/>
            <a:ext cx="1760483" cy="67777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3931BD5-9923-B94F-A9B1-FCE50C2A4941}"/>
              </a:ext>
            </a:extLst>
          </p:cNvPr>
          <p:cNvSpPr/>
          <p:nvPr/>
        </p:nvSpPr>
        <p:spPr>
          <a:xfrm>
            <a:off x="8197506" y="507698"/>
            <a:ext cx="1760483" cy="67777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Institution Repository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E248A27-732D-25C4-F40B-D60C87421C47}"/>
              </a:ext>
            </a:extLst>
          </p:cNvPr>
          <p:cNvSpPr/>
          <p:nvPr/>
        </p:nvSpPr>
        <p:spPr>
          <a:xfrm>
            <a:off x="5357954" y="507699"/>
            <a:ext cx="1760483" cy="67777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Institution CRIS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70E26A2-8076-AFC9-F401-7BBACB0D97C7}"/>
              </a:ext>
            </a:extLst>
          </p:cNvPr>
          <p:cNvSpPr/>
          <p:nvPr/>
        </p:nvSpPr>
        <p:spPr>
          <a:xfrm>
            <a:off x="3832054" y="507699"/>
            <a:ext cx="995450" cy="67777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Users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5EC08A-B8CC-D851-3603-205D076B42DC}"/>
              </a:ext>
            </a:extLst>
          </p:cNvPr>
          <p:cNvCxnSpPr>
            <a:cxnSpLocks/>
          </p:cNvCxnSpPr>
          <p:nvPr/>
        </p:nvCxnSpPr>
        <p:spPr>
          <a:xfrm>
            <a:off x="1815464" y="1086214"/>
            <a:ext cx="13281" cy="2817284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F559D9-BC04-0B6F-384B-3444609A7FD8}"/>
              </a:ext>
            </a:extLst>
          </p:cNvPr>
          <p:cNvCxnSpPr>
            <a:cxnSpLocks/>
            <a:stCxn id="11" idx="0"/>
            <a:endCxn id="32" idx="4"/>
          </p:cNvCxnSpPr>
          <p:nvPr/>
        </p:nvCxnSpPr>
        <p:spPr>
          <a:xfrm flipH="1" flipV="1">
            <a:off x="9077748" y="1185471"/>
            <a:ext cx="1180427" cy="1852578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A0EBEE-2486-160C-B59F-61D8A72D60D2}"/>
              </a:ext>
            </a:extLst>
          </p:cNvPr>
          <p:cNvCxnSpPr>
            <a:cxnSpLocks/>
            <a:stCxn id="12" idx="0"/>
            <a:endCxn id="34" idx="4"/>
          </p:cNvCxnSpPr>
          <p:nvPr/>
        </p:nvCxnSpPr>
        <p:spPr>
          <a:xfrm flipV="1">
            <a:off x="4782626" y="1185472"/>
            <a:ext cx="1455570" cy="182478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950EBD5-ACAB-57DC-339B-6DDEC4C781CF}"/>
              </a:ext>
            </a:extLst>
          </p:cNvPr>
          <p:cNvCxnSpPr>
            <a:cxnSpLocks/>
            <a:stCxn id="31" idx="5"/>
          </p:cNvCxnSpPr>
          <p:nvPr/>
        </p:nvCxnSpPr>
        <p:spPr>
          <a:xfrm>
            <a:off x="2898173" y="1133839"/>
            <a:ext cx="1884453" cy="1876413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1057D03-7D8B-D84E-20E0-A3695F83BABB}"/>
              </a:ext>
            </a:extLst>
          </p:cNvPr>
          <p:cNvCxnSpPr>
            <a:cxnSpLocks/>
            <a:stCxn id="35" idx="4"/>
            <a:endCxn id="8" idx="0"/>
          </p:cNvCxnSpPr>
          <p:nvPr/>
        </p:nvCxnSpPr>
        <p:spPr>
          <a:xfrm flipH="1">
            <a:off x="3392721" y="1185472"/>
            <a:ext cx="937058" cy="182478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0285355-DFFE-D2BB-529B-70D254C8AB62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501659" y="3945786"/>
            <a:ext cx="406155" cy="213129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1814C39-2FBB-E46C-756E-87D27CC04F3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859320" y="4267634"/>
            <a:ext cx="533400" cy="41164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11FA040-57C6-EAD0-B528-3DF61D9F4AEE}"/>
              </a:ext>
            </a:extLst>
          </p:cNvPr>
          <p:cNvCxnSpPr>
            <a:cxnSpLocks/>
          </p:cNvCxnSpPr>
          <p:nvPr/>
        </p:nvCxnSpPr>
        <p:spPr>
          <a:xfrm flipV="1">
            <a:off x="3256665" y="4170832"/>
            <a:ext cx="1031493" cy="840198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48368C4-ACDD-3989-00C9-757B2DE894A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267532" y="3942011"/>
            <a:ext cx="1784383" cy="61132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F01BF29-694F-2123-3D23-B269B5BDC56E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006699" y="4409750"/>
            <a:ext cx="1088059" cy="60128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94561A0-8DD1-5B2A-3852-709C80A805F6}"/>
              </a:ext>
            </a:extLst>
          </p:cNvPr>
          <p:cNvCxnSpPr>
            <a:cxnSpLocks/>
          </p:cNvCxnSpPr>
          <p:nvPr/>
        </p:nvCxnSpPr>
        <p:spPr>
          <a:xfrm flipH="1" flipV="1">
            <a:off x="8880735" y="3710321"/>
            <a:ext cx="870088" cy="1015457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078AD74-B64D-F68A-BD7A-CC441CECEEDA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0012282" y="3681746"/>
            <a:ext cx="255418" cy="1017697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16BB66C-FA2B-5F98-FA49-2D9AA8360BD6}"/>
              </a:ext>
            </a:extLst>
          </p:cNvPr>
          <p:cNvCxnSpPr>
            <a:cxnSpLocks/>
            <a:stCxn id="17" idx="3"/>
            <a:endCxn id="18" idx="2"/>
          </p:cNvCxnSpPr>
          <p:nvPr/>
        </p:nvCxnSpPr>
        <p:spPr>
          <a:xfrm flipV="1">
            <a:off x="4681764" y="4898860"/>
            <a:ext cx="96081" cy="815669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C2BA8C6-6C44-11EE-7EF5-13686B5EF30E}"/>
              </a:ext>
            </a:extLst>
          </p:cNvPr>
          <p:cNvCxnSpPr>
            <a:cxnSpLocks/>
            <a:endCxn id="88" idx="4"/>
          </p:cNvCxnSpPr>
          <p:nvPr/>
        </p:nvCxnSpPr>
        <p:spPr>
          <a:xfrm flipV="1">
            <a:off x="6282261" y="5306591"/>
            <a:ext cx="0" cy="407937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42CB0C5C-20C9-4C9C-BD2F-455D98FFBC2F}"/>
              </a:ext>
            </a:extLst>
          </p:cNvPr>
          <p:cNvSpPr/>
          <p:nvPr/>
        </p:nvSpPr>
        <p:spPr>
          <a:xfrm>
            <a:off x="6151969" y="5055115"/>
            <a:ext cx="260584" cy="25147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4DA42D2-4AF8-C540-D8D7-C13DBD56E2B3}"/>
              </a:ext>
            </a:extLst>
          </p:cNvPr>
          <p:cNvSpPr/>
          <p:nvPr/>
        </p:nvSpPr>
        <p:spPr>
          <a:xfrm>
            <a:off x="3782345" y="3288528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62397F-939A-417C-815E-2F1399A6BA1C}"/>
              </a:ext>
            </a:extLst>
          </p:cNvPr>
          <p:cNvSpPr/>
          <p:nvPr/>
        </p:nvSpPr>
        <p:spPr>
          <a:xfrm>
            <a:off x="5134295" y="3288528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CCE53EA-1388-40F6-329F-48C360069C70}"/>
              </a:ext>
            </a:extLst>
          </p:cNvPr>
          <p:cNvSpPr/>
          <p:nvPr/>
        </p:nvSpPr>
        <p:spPr>
          <a:xfrm>
            <a:off x="5178431" y="4121320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35B651-CF22-0E27-4095-93E66FFF6343}"/>
              </a:ext>
            </a:extLst>
          </p:cNvPr>
          <p:cNvSpPr/>
          <p:nvPr/>
        </p:nvSpPr>
        <p:spPr>
          <a:xfrm>
            <a:off x="5169570" y="4779144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BB0531A-D57A-AB02-FEDB-EC96EFBC64F0}"/>
              </a:ext>
            </a:extLst>
          </p:cNvPr>
          <p:cNvSpPr/>
          <p:nvPr/>
        </p:nvSpPr>
        <p:spPr>
          <a:xfrm>
            <a:off x="9715663" y="3591643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8474CCB-FB14-9624-7EA9-80B5EC0901CB}"/>
              </a:ext>
            </a:extLst>
          </p:cNvPr>
          <p:cNvSpPr/>
          <p:nvPr/>
        </p:nvSpPr>
        <p:spPr>
          <a:xfrm>
            <a:off x="8197101" y="3586115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8A1E2B9-0FB0-A737-5612-7918956BB652}"/>
              </a:ext>
            </a:extLst>
          </p:cNvPr>
          <p:cNvCxnSpPr>
            <a:cxnSpLocks/>
          </p:cNvCxnSpPr>
          <p:nvPr/>
        </p:nvCxnSpPr>
        <p:spPr>
          <a:xfrm flipH="1" flipV="1">
            <a:off x="5270783" y="3097029"/>
            <a:ext cx="1766104" cy="1186422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Star: 7 Points 114">
            <a:extLst>
              <a:ext uri="{FF2B5EF4-FFF2-40B4-BE49-F238E27FC236}">
                <a16:creationId xmlns:a16="http://schemas.microsoft.com/office/drawing/2014/main" id="{EEEDEA4F-2387-F66A-42D8-4738245D5579}"/>
              </a:ext>
            </a:extLst>
          </p:cNvPr>
          <p:cNvSpPr/>
          <p:nvPr/>
        </p:nvSpPr>
        <p:spPr>
          <a:xfrm>
            <a:off x="2859320" y="3573395"/>
            <a:ext cx="148328" cy="147778"/>
          </a:xfrm>
          <a:prstGeom prst="star7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Star: 7 Points 115">
            <a:extLst>
              <a:ext uri="{FF2B5EF4-FFF2-40B4-BE49-F238E27FC236}">
                <a16:creationId xmlns:a16="http://schemas.microsoft.com/office/drawing/2014/main" id="{527B0D0B-0633-6AD3-6575-108B38E3FA58}"/>
              </a:ext>
            </a:extLst>
          </p:cNvPr>
          <p:cNvSpPr/>
          <p:nvPr/>
        </p:nvSpPr>
        <p:spPr>
          <a:xfrm>
            <a:off x="6977751" y="4023054"/>
            <a:ext cx="148328" cy="147778"/>
          </a:xfrm>
          <a:prstGeom prst="star7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Star: 7 Points 116">
            <a:extLst>
              <a:ext uri="{FF2B5EF4-FFF2-40B4-BE49-F238E27FC236}">
                <a16:creationId xmlns:a16="http://schemas.microsoft.com/office/drawing/2014/main" id="{5E440BC0-9AE6-2DED-8E21-82BC13B51F89}"/>
              </a:ext>
            </a:extLst>
          </p:cNvPr>
          <p:cNvSpPr/>
          <p:nvPr/>
        </p:nvSpPr>
        <p:spPr>
          <a:xfrm>
            <a:off x="4252478" y="3582495"/>
            <a:ext cx="148328" cy="147778"/>
          </a:xfrm>
          <a:prstGeom prst="star7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Star: 7 Points 122">
            <a:extLst>
              <a:ext uri="{FF2B5EF4-FFF2-40B4-BE49-F238E27FC236}">
                <a16:creationId xmlns:a16="http://schemas.microsoft.com/office/drawing/2014/main" id="{574AE305-87EE-644D-9FB2-36FAE367774D}"/>
              </a:ext>
            </a:extLst>
          </p:cNvPr>
          <p:cNvSpPr/>
          <p:nvPr/>
        </p:nvSpPr>
        <p:spPr>
          <a:xfrm>
            <a:off x="8109210" y="6045213"/>
            <a:ext cx="148328" cy="147778"/>
          </a:xfrm>
          <a:prstGeom prst="star7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05ABC0F-3018-02CE-B307-1E004DC7376F}"/>
              </a:ext>
            </a:extLst>
          </p:cNvPr>
          <p:cNvSpPr txBox="1"/>
          <p:nvPr/>
        </p:nvSpPr>
        <p:spPr>
          <a:xfrm>
            <a:off x="8266004" y="5920211"/>
            <a:ext cx="3231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Service fixed to server (other services could run on either server)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71DEBAEB-B668-6FE4-685F-6297D387ADD4}"/>
              </a:ext>
            </a:extLst>
          </p:cNvPr>
          <p:cNvSpPr/>
          <p:nvPr/>
        </p:nvSpPr>
        <p:spPr>
          <a:xfrm>
            <a:off x="8091122" y="5688003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76F0C13-ED9E-B36A-95A6-B8AB501FDE4B}"/>
              </a:ext>
            </a:extLst>
          </p:cNvPr>
          <p:cNvSpPr txBox="1"/>
          <p:nvPr/>
        </p:nvSpPr>
        <p:spPr>
          <a:xfrm>
            <a:off x="8291534" y="5609459"/>
            <a:ext cx="239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2D7573"/>
                </a:solidFill>
              </a:rPr>
              <a:t>Database connection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BFA08FD-F875-976E-5577-32BBCE7EB4AB}"/>
              </a:ext>
            </a:extLst>
          </p:cNvPr>
          <p:cNvSpPr txBox="1"/>
          <p:nvPr/>
        </p:nvSpPr>
        <p:spPr>
          <a:xfrm>
            <a:off x="9766162" y="826513"/>
            <a:ext cx="1069524" cy="584775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285750" indent="-285750">
              <a:buFont typeface="Courier New" panose="02070309020205020404" pitchFamily="49" charset="0"/>
              <a:buChar char="o"/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Eprints</a:t>
            </a:r>
          </a:p>
          <a:p>
            <a:r>
              <a:rPr lang="en-GB" dirty="0" err="1"/>
              <a:t>dSpace</a:t>
            </a:r>
            <a:endParaRPr lang="en-GB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1B49D60-1C2C-60F3-D876-1A912513A46E}"/>
              </a:ext>
            </a:extLst>
          </p:cNvPr>
          <p:cNvSpPr txBox="1"/>
          <p:nvPr/>
        </p:nvSpPr>
        <p:spPr>
          <a:xfrm>
            <a:off x="6707472" y="885540"/>
            <a:ext cx="1317910" cy="1061225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285750" indent="-285750">
              <a:buFont typeface="Courier New" panose="02070309020205020404" pitchFamily="49" charset="0"/>
              <a:buChar char="o"/>
              <a:defRPr sz="1600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Pure</a:t>
            </a:r>
          </a:p>
          <a:p>
            <a:r>
              <a:rPr lang="en-GB" dirty="0" err="1"/>
              <a:t>Haplo</a:t>
            </a:r>
            <a:endParaRPr lang="en-GB" dirty="0"/>
          </a:p>
          <a:p>
            <a:r>
              <a:rPr lang="en-GB" dirty="0" err="1"/>
              <a:t>Worktribe</a:t>
            </a:r>
            <a:endParaRPr lang="en-GB" dirty="0"/>
          </a:p>
          <a:p>
            <a:r>
              <a:rPr lang="en-GB" dirty="0"/>
              <a:t>bespoke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22E1330-2604-C909-6E10-CDE9EF72644B}"/>
              </a:ext>
            </a:extLst>
          </p:cNvPr>
          <p:cNvSpPr/>
          <p:nvPr/>
        </p:nvSpPr>
        <p:spPr>
          <a:xfrm>
            <a:off x="1590241" y="5779421"/>
            <a:ext cx="1898673" cy="677773"/>
          </a:xfrm>
          <a:prstGeom prst="ellipse">
            <a:avLst/>
          </a:prstGeom>
          <a:gradFill>
            <a:gsLst>
              <a:gs pos="0">
                <a:schemeClr val="accent4">
                  <a:satMod val="105000"/>
                  <a:tint val="67000"/>
                  <a:lumMod val="93000"/>
                  <a:lumOff val="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GB" dirty="0"/>
              <a:t>Harvested sources APIs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2E23DC4-F95D-4C71-0673-3C967A22A9A2}"/>
              </a:ext>
            </a:extLst>
          </p:cNvPr>
          <p:cNvSpPr txBox="1"/>
          <p:nvPr/>
        </p:nvSpPr>
        <p:spPr>
          <a:xfrm>
            <a:off x="502618" y="5528427"/>
            <a:ext cx="1317910" cy="1061225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285750" indent="-285750">
              <a:buFont typeface="Courier New" panose="02070309020205020404" pitchFamily="49" charset="0"/>
              <a:buChar char="o"/>
              <a:defRPr sz="1600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EPMC</a:t>
            </a:r>
          </a:p>
          <a:p>
            <a:r>
              <a:rPr lang="en-GB" dirty="0"/>
              <a:t>PubMed</a:t>
            </a:r>
          </a:p>
          <a:p>
            <a:r>
              <a:rPr lang="en-GB" dirty="0" err="1"/>
              <a:t>Crossref</a:t>
            </a:r>
            <a:endParaRPr lang="en-GB" dirty="0"/>
          </a:p>
          <a:p>
            <a:r>
              <a:rPr lang="en-GB" dirty="0"/>
              <a:t>Elsevier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E455D91-77BB-17D4-DED0-983D0EA0438D}"/>
              </a:ext>
            </a:extLst>
          </p:cNvPr>
          <p:cNvCxnSpPr>
            <a:cxnSpLocks/>
            <a:stCxn id="139" idx="7"/>
          </p:cNvCxnSpPr>
          <p:nvPr/>
        </p:nvCxnSpPr>
        <p:spPr>
          <a:xfrm flipV="1">
            <a:off x="3210860" y="4895157"/>
            <a:ext cx="1122578" cy="983522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7F4333-8A7E-083C-8FC3-07ECF856D5CE}"/>
              </a:ext>
            </a:extLst>
          </p:cNvPr>
          <p:cNvSpPr/>
          <p:nvPr/>
        </p:nvSpPr>
        <p:spPr>
          <a:xfrm>
            <a:off x="6920433" y="3047574"/>
            <a:ext cx="979532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tIns="45720" rIns="72000" bIns="4572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SWORD In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C71FAE-327F-15FD-984E-90DF57D607C9}"/>
              </a:ext>
            </a:extLst>
          </p:cNvPr>
          <p:cNvSpPr/>
          <p:nvPr/>
        </p:nvSpPr>
        <p:spPr>
          <a:xfrm>
            <a:off x="6867687" y="3601167"/>
            <a:ext cx="184704" cy="180206"/>
          </a:xfrm>
          <a:prstGeom prst="ellipse">
            <a:avLst/>
          </a:prstGeom>
          <a:solidFill>
            <a:srgbClr val="3A969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939767-371B-20A8-E54C-C69E2B4AD191}"/>
              </a:ext>
            </a:extLst>
          </p:cNvPr>
          <p:cNvCxnSpPr>
            <a:cxnSpLocks/>
          </p:cNvCxnSpPr>
          <p:nvPr/>
        </p:nvCxnSpPr>
        <p:spPr>
          <a:xfrm>
            <a:off x="7692373" y="3695375"/>
            <a:ext cx="1611934" cy="104895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6FA30F-A9F2-A95E-9E84-F05BC6C8229B}"/>
              </a:ext>
            </a:extLst>
          </p:cNvPr>
          <p:cNvCxnSpPr>
            <a:cxnSpLocks/>
          </p:cNvCxnSpPr>
          <p:nvPr/>
        </p:nvCxnSpPr>
        <p:spPr>
          <a:xfrm>
            <a:off x="3145822" y="1019539"/>
            <a:ext cx="3865653" cy="2019288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C19BC34-D0FB-91E1-C189-F34A2041FBFD}"/>
              </a:ext>
            </a:extLst>
          </p:cNvPr>
          <p:cNvSpPr/>
          <p:nvPr/>
        </p:nvSpPr>
        <p:spPr>
          <a:xfrm>
            <a:off x="1570470" y="1526739"/>
            <a:ext cx="4868040" cy="585317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75000"/>
                </a:schemeClr>
              </a:gs>
              <a:gs pos="100000">
                <a:schemeClr val="accent2">
                  <a:lumMod val="105000"/>
                  <a:satMod val="103000"/>
                  <a:tint val="73000"/>
                  <a:alpha val="75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Gateway</a:t>
            </a:r>
          </a:p>
        </p:txBody>
      </p:sp>
    </p:spTree>
    <p:extLst>
      <p:ext uri="{BB962C8B-B14F-4D97-AF65-F5344CB8AC3E}">
        <p14:creationId xmlns:p14="http://schemas.microsoft.com/office/powerpoint/2010/main" val="354453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622993-5091-4FF9-8111-035490A69B00}"/>
              </a:ext>
            </a:extLst>
          </p:cNvPr>
          <p:cNvSpPr/>
          <p:nvPr/>
        </p:nvSpPr>
        <p:spPr>
          <a:xfrm>
            <a:off x="4145616" y="447656"/>
            <a:ext cx="3350693" cy="1211089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72000" rIns="91440" bIns="72000" rtlCol="0" anchor="t"/>
          <a:lstStyle/>
          <a:p>
            <a:pPr algn="ctr"/>
            <a:r>
              <a:rPr lang="en-GB" dirty="0"/>
              <a:t>Gateway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F3680-1272-4C53-8EB1-E81EEA2FC46E}"/>
              </a:ext>
            </a:extLst>
          </p:cNvPr>
          <p:cNvSpPr/>
          <p:nvPr/>
        </p:nvSpPr>
        <p:spPr>
          <a:xfrm>
            <a:off x="516469" y="1901120"/>
            <a:ext cx="4707466" cy="3399013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72000" rIns="91440" bIns="72000" rtlCol="0" anchor="t"/>
          <a:lstStyle/>
          <a:p>
            <a:pPr algn="ctr"/>
            <a:r>
              <a:rPr lang="en-GB" b="1" dirty="0"/>
              <a:t>App1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45A32C-CF1F-430D-A379-842343B38386}"/>
              </a:ext>
            </a:extLst>
          </p:cNvPr>
          <p:cNvSpPr/>
          <p:nvPr/>
        </p:nvSpPr>
        <p:spPr>
          <a:xfrm>
            <a:off x="5501589" y="1898253"/>
            <a:ext cx="6242670" cy="3387807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72000" rIns="91440" bIns="72000" rtlCol="0" anchor="t"/>
          <a:lstStyle/>
          <a:p>
            <a:pPr algn="ctr"/>
            <a:r>
              <a:rPr lang="en-GB" b="1"/>
              <a:t>App2</a:t>
            </a:r>
          </a:p>
        </p:txBody>
      </p:sp>
      <p:sp>
        <p:nvSpPr>
          <p:cNvPr id="17" name="Rectangle: Single Corner Snipped 16">
            <a:extLst>
              <a:ext uri="{FF2B5EF4-FFF2-40B4-BE49-F238E27FC236}">
                <a16:creationId xmlns:a16="http://schemas.microsoft.com/office/drawing/2014/main" id="{DD17869B-B9C0-20A9-911D-DE447187FF06}"/>
              </a:ext>
            </a:extLst>
          </p:cNvPr>
          <p:cNvSpPr/>
          <p:nvPr/>
        </p:nvSpPr>
        <p:spPr>
          <a:xfrm>
            <a:off x="3837803" y="5598100"/>
            <a:ext cx="1840412" cy="700184"/>
          </a:xfrm>
          <a:prstGeom prst="snip1Rect">
            <a:avLst/>
          </a:prstGeom>
          <a:solidFill>
            <a:srgbClr val="3A9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Elasticsearch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677A1425-5321-E03D-66C9-D1D235C04B00}"/>
              </a:ext>
            </a:extLst>
          </p:cNvPr>
          <p:cNvSpPr/>
          <p:nvPr/>
        </p:nvSpPr>
        <p:spPr>
          <a:xfrm>
            <a:off x="6084294" y="5602469"/>
            <a:ext cx="1784383" cy="700184"/>
          </a:xfrm>
          <a:prstGeom prst="snip1Rect">
            <a:avLst/>
          </a:prstGeom>
          <a:solidFill>
            <a:srgbClr val="3A9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MySQL (RDS)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1E9F4E-2695-BFA2-9AC7-FD74312EFE06}"/>
              </a:ext>
            </a:extLst>
          </p:cNvPr>
          <p:cNvSpPr/>
          <p:nvPr/>
        </p:nvSpPr>
        <p:spPr>
          <a:xfrm>
            <a:off x="5186295" y="870989"/>
            <a:ext cx="1253067" cy="492462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NGINX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FCA348-8C21-8C04-8BE0-F83FD6D66A7A}"/>
              </a:ext>
            </a:extLst>
          </p:cNvPr>
          <p:cNvSpPr/>
          <p:nvPr/>
        </p:nvSpPr>
        <p:spPr>
          <a:xfrm>
            <a:off x="2243668" y="2340692"/>
            <a:ext cx="1315861" cy="492462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NGINX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0D5CB0-34B1-6DD8-A19A-FEC4E6C0E1BE}"/>
              </a:ext>
            </a:extLst>
          </p:cNvPr>
          <p:cNvSpPr/>
          <p:nvPr/>
        </p:nvSpPr>
        <p:spPr>
          <a:xfrm>
            <a:off x="7222738" y="2352836"/>
            <a:ext cx="1323764" cy="492462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NGINX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2D2AB0-2283-3299-04F3-65FEEAF6BE35}"/>
              </a:ext>
            </a:extLst>
          </p:cNvPr>
          <p:cNvSpPr/>
          <p:nvPr/>
        </p:nvSpPr>
        <p:spPr>
          <a:xfrm>
            <a:off x="719666" y="3019771"/>
            <a:ext cx="1323764" cy="207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Supervisor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76896C-D6BE-E9BB-0127-66E3E03564D9}"/>
              </a:ext>
            </a:extLst>
          </p:cNvPr>
          <p:cNvSpPr/>
          <p:nvPr/>
        </p:nvSpPr>
        <p:spPr>
          <a:xfrm>
            <a:off x="812800" y="3498786"/>
            <a:ext cx="1126066" cy="1384258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Gunicorn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41B522-049E-B3C7-78B5-4C0BD8C4E08D}"/>
              </a:ext>
            </a:extLst>
          </p:cNvPr>
          <p:cNvSpPr/>
          <p:nvPr/>
        </p:nvSpPr>
        <p:spPr>
          <a:xfrm>
            <a:off x="960819" y="4023054"/>
            <a:ext cx="825648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Web/</a:t>
            </a:r>
          </a:p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969A74-7822-8088-0931-49D43156F4AE}"/>
              </a:ext>
            </a:extLst>
          </p:cNvPr>
          <p:cNvSpPr/>
          <p:nvPr/>
        </p:nvSpPr>
        <p:spPr>
          <a:xfrm>
            <a:off x="5707682" y="3030977"/>
            <a:ext cx="1323764" cy="207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Supervisor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42B538-7434-EE0C-41DA-F95955E41226}"/>
              </a:ext>
            </a:extLst>
          </p:cNvPr>
          <p:cNvSpPr/>
          <p:nvPr/>
        </p:nvSpPr>
        <p:spPr>
          <a:xfrm>
            <a:off x="5800816" y="3509992"/>
            <a:ext cx="1126066" cy="1384258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Gunicorn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9DED55-5AAB-DFAF-5FED-8C7B1E595A5E}"/>
              </a:ext>
            </a:extLst>
          </p:cNvPr>
          <p:cNvSpPr/>
          <p:nvPr/>
        </p:nvSpPr>
        <p:spPr>
          <a:xfrm>
            <a:off x="5948835" y="4034260"/>
            <a:ext cx="825648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Store API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5D07EF-E5B5-1571-F922-BB7D9B61C6D1}"/>
              </a:ext>
            </a:extLst>
          </p:cNvPr>
          <p:cNvSpPr/>
          <p:nvPr/>
        </p:nvSpPr>
        <p:spPr>
          <a:xfrm>
            <a:off x="3742168" y="3013942"/>
            <a:ext cx="1323764" cy="207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Supervisor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350AFB-93AB-9921-B6EB-FBF5BF8F822E}"/>
              </a:ext>
            </a:extLst>
          </p:cNvPr>
          <p:cNvSpPr/>
          <p:nvPr/>
        </p:nvSpPr>
        <p:spPr>
          <a:xfrm>
            <a:off x="3835302" y="3492957"/>
            <a:ext cx="1126066" cy="1384258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E5A09B7-11F8-980B-733F-A54A9CE648C8}"/>
              </a:ext>
            </a:extLst>
          </p:cNvPr>
          <p:cNvSpPr/>
          <p:nvPr/>
        </p:nvSpPr>
        <p:spPr>
          <a:xfrm>
            <a:off x="3983321" y="4017225"/>
            <a:ext cx="825648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Scheduler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855666-2CEA-5A9D-A2FC-A6AEB0630051}"/>
              </a:ext>
            </a:extLst>
          </p:cNvPr>
          <p:cNvSpPr/>
          <p:nvPr/>
        </p:nvSpPr>
        <p:spPr>
          <a:xfrm>
            <a:off x="2243668" y="3013942"/>
            <a:ext cx="1323764" cy="207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Supervisor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12821D-981E-4571-C938-EAFD48A14FF7}"/>
              </a:ext>
            </a:extLst>
          </p:cNvPr>
          <p:cNvSpPr/>
          <p:nvPr/>
        </p:nvSpPr>
        <p:spPr>
          <a:xfrm>
            <a:off x="2336802" y="3492957"/>
            <a:ext cx="1126066" cy="1384258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3C84CDA-02E1-F445-1387-20CF56467E21}"/>
              </a:ext>
            </a:extLst>
          </p:cNvPr>
          <p:cNvSpPr/>
          <p:nvPr/>
        </p:nvSpPr>
        <p:spPr>
          <a:xfrm>
            <a:off x="2484821" y="4017225"/>
            <a:ext cx="825648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tIns="45720" rIns="72000" bIns="45720" rtlCol="0" anchor="ctr" anchorCtr="0"/>
          <a:lstStyle/>
          <a:p>
            <a:pPr algn="ctr"/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Harvest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C0F5A3-E5E3-4346-9E6B-56E7F4949F7A}"/>
              </a:ext>
            </a:extLst>
          </p:cNvPr>
          <p:cNvSpPr/>
          <p:nvPr/>
        </p:nvSpPr>
        <p:spPr>
          <a:xfrm>
            <a:off x="8737794" y="3036354"/>
            <a:ext cx="1323764" cy="207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Supervisor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584E14-946C-BC99-1DD0-1C7B072391D2}"/>
              </a:ext>
            </a:extLst>
          </p:cNvPr>
          <p:cNvSpPr/>
          <p:nvPr/>
        </p:nvSpPr>
        <p:spPr>
          <a:xfrm>
            <a:off x="8830928" y="3515369"/>
            <a:ext cx="1126066" cy="1384258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769AED5-2480-D2D8-E97C-253D2759B570}"/>
              </a:ext>
            </a:extLst>
          </p:cNvPr>
          <p:cNvSpPr/>
          <p:nvPr/>
        </p:nvSpPr>
        <p:spPr>
          <a:xfrm>
            <a:off x="8978947" y="4039637"/>
            <a:ext cx="825648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tIns="45720" rIns="72000" bIns="45720" rtlCol="0" anchor="ctr" anchorCtr="0"/>
          <a:lstStyle/>
          <a:p>
            <a:pPr algn="ctr"/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SwordOut</a:t>
            </a:r>
            <a:endParaRPr lang="en-GB" dirty="0" err="1">
              <a:solidFill>
                <a:schemeClr val="tx1">
                  <a:lumMod val="65000"/>
                  <a:lumOff val="3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35CDC4-1A86-CBCC-18D9-CFE1E450528D}"/>
              </a:ext>
            </a:extLst>
          </p:cNvPr>
          <p:cNvSpPr/>
          <p:nvPr/>
        </p:nvSpPr>
        <p:spPr>
          <a:xfrm>
            <a:off x="7222738" y="3034827"/>
            <a:ext cx="1323764" cy="207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Supervisor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1BEBF7-C665-4161-4608-A99B057CD764}"/>
              </a:ext>
            </a:extLst>
          </p:cNvPr>
          <p:cNvSpPr/>
          <p:nvPr/>
        </p:nvSpPr>
        <p:spPr>
          <a:xfrm>
            <a:off x="7315872" y="3513842"/>
            <a:ext cx="1126066" cy="1384258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EAD189B-D88E-6626-1CD2-4E4BB9DD96D9}"/>
              </a:ext>
            </a:extLst>
          </p:cNvPr>
          <p:cNvSpPr/>
          <p:nvPr/>
        </p:nvSpPr>
        <p:spPr>
          <a:xfrm>
            <a:off x="7463891" y="4038110"/>
            <a:ext cx="825648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tIns="45720" rIns="72000" bIns="45720" rtlCol="0" anchor="ctr" anchorCtr="0"/>
          <a:lstStyle/>
          <a:p>
            <a:pPr algn="ctr"/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Scheduler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5B8612C-1FF9-7399-3CFA-A2B8081B91C0}"/>
              </a:ext>
            </a:extLst>
          </p:cNvPr>
          <p:cNvSpPr/>
          <p:nvPr/>
        </p:nvSpPr>
        <p:spPr>
          <a:xfrm>
            <a:off x="4242757" y="2179070"/>
            <a:ext cx="825648" cy="64369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Shell scripts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1FC796E-8E9F-22F6-F492-25B192CAF1AA}"/>
              </a:ext>
            </a:extLst>
          </p:cNvPr>
          <p:cNvSpPr/>
          <p:nvPr/>
        </p:nvSpPr>
        <p:spPr>
          <a:xfrm>
            <a:off x="9241459" y="2250490"/>
            <a:ext cx="825648" cy="64369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Shell scripts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A0FB3C-00CC-55B0-8ED8-7D6E1F828C11}"/>
              </a:ext>
            </a:extLst>
          </p:cNvPr>
          <p:cNvSpPr/>
          <p:nvPr/>
        </p:nvSpPr>
        <p:spPr>
          <a:xfrm>
            <a:off x="10237120" y="3034826"/>
            <a:ext cx="1323764" cy="207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bIns="72000"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Supervisor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27C10-8170-9CE6-A5F9-3C20D111DF89}"/>
              </a:ext>
            </a:extLst>
          </p:cNvPr>
          <p:cNvSpPr/>
          <p:nvPr/>
        </p:nvSpPr>
        <p:spPr>
          <a:xfrm>
            <a:off x="10330254" y="3513841"/>
            <a:ext cx="1126066" cy="1384258"/>
          </a:xfrm>
          <a:prstGeom prst="rect">
            <a:avLst/>
          </a:prstGeom>
          <a:solidFill>
            <a:srgbClr val="E669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Gunicorn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F15F2A-6B9A-1A9B-216C-204CB1E146E5}"/>
              </a:ext>
            </a:extLst>
          </p:cNvPr>
          <p:cNvSpPr/>
          <p:nvPr/>
        </p:nvSpPr>
        <p:spPr>
          <a:xfrm>
            <a:off x="10478273" y="4038109"/>
            <a:ext cx="825648" cy="643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72000" tIns="45720" rIns="72000" bIns="45720" rtlCol="0" anchor="ctr" anchorCtr="0"/>
          <a:lstStyle/>
          <a:p>
            <a:pPr algn="ctr"/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SwordIn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322072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049B0D-D5D3-4C62-8D00-FA9E54941C51}"/>
              </a:ext>
            </a:extLst>
          </p:cNvPr>
          <p:cNvSpPr/>
          <p:nvPr/>
        </p:nvSpPr>
        <p:spPr>
          <a:xfrm>
            <a:off x="478366" y="1373950"/>
            <a:ext cx="10995177" cy="47046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42167-B367-45C1-A86D-204301F7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Workflow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0C2E1-39E9-4993-B74F-7915476F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Jisc Publications Router - for institutions using EPrints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C4B7A-2848-44DF-9203-E8CFA38EAF44}"/>
              </a:ext>
            </a:extLst>
          </p:cNvPr>
          <p:cNvSpPr/>
          <p:nvPr/>
        </p:nvSpPr>
        <p:spPr>
          <a:xfrm>
            <a:off x="4686981" y="2617543"/>
            <a:ext cx="2303971" cy="1702279"/>
          </a:xfrm>
          <a:prstGeom prst="rect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54"/>
            <a:r>
              <a:rPr lang="en-GB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Jisc Publications Router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D3588C24-706A-4905-A497-5A6C52ACA91B}"/>
              </a:ext>
            </a:extLst>
          </p:cNvPr>
          <p:cNvSpPr/>
          <p:nvPr/>
        </p:nvSpPr>
        <p:spPr>
          <a:xfrm>
            <a:off x="752161" y="2922343"/>
            <a:ext cx="1756372" cy="1092677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Roboto" panose="02000000000000000000" pitchFamily="2" charset="0"/>
                <a:ea typeface="Roboto" panose="02000000000000000000" pitchFamily="2" charset="0"/>
              </a:rPr>
              <a:t>Publisher/ provider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5BF93EFB-B178-4A35-A551-33FBEAEBF0D6}"/>
              </a:ext>
            </a:extLst>
          </p:cNvPr>
          <p:cNvSpPr/>
          <p:nvPr/>
        </p:nvSpPr>
        <p:spPr>
          <a:xfrm>
            <a:off x="9169402" y="2922343"/>
            <a:ext cx="1945924" cy="1092677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Roboto" panose="02000000000000000000" pitchFamily="2" charset="0"/>
                <a:ea typeface="Roboto" panose="02000000000000000000" pitchFamily="2" charset="0"/>
              </a:rPr>
              <a:t>Repository/ CRIS</a:t>
            </a:r>
          </a:p>
        </p:txBody>
      </p:sp>
      <p:sp>
        <p:nvSpPr>
          <p:cNvPr id="13" name="Right Arrow 9">
            <a:extLst>
              <a:ext uri="{FF2B5EF4-FFF2-40B4-BE49-F238E27FC236}">
                <a16:creationId xmlns:a16="http://schemas.microsoft.com/office/drawing/2014/main" id="{FF6FBC8A-86C9-43E7-8169-5E520392F101}"/>
              </a:ext>
            </a:extLst>
          </p:cNvPr>
          <p:cNvSpPr/>
          <p:nvPr/>
        </p:nvSpPr>
        <p:spPr>
          <a:xfrm>
            <a:off x="2683755" y="2922343"/>
            <a:ext cx="1828004" cy="1092677"/>
          </a:xfrm>
          <a:prstGeom prst="rightArrow">
            <a:avLst>
              <a:gd name="adj1" fmla="val 65405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rIns="0" rtlCol="0" anchor="ctr"/>
          <a:lstStyle/>
          <a:p>
            <a:r>
              <a:rPr lang="en-GB" sz="2000" dirty="0">
                <a:latin typeface="Roboto Light" panose="02000000000000000000" pitchFamily="2" charset="0"/>
                <a:ea typeface="Roboto Light" panose="02000000000000000000" pitchFamily="2" charset="0"/>
              </a:rPr>
              <a:t>Metadata </a:t>
            </a:r>
            <a:br>
              <a:rPr lang="en-GB" sz="2000" dirty="0">
                <a:latin typeface="Roboto Light" panose="02000000000000000000" pitchFamily="2" charset="0"/>
                <a:ea typeface="Roboto Light" panose="02000000000000000000" pitchFamily="2" charset="0"/>
              </a:rPr>
            </a:br>
            <a:r>
              <a:rPr lang="en-GB" sz="2000" dirty="0">
                <a:latin typeface="Roboto Light" panose="02000000000000000000" pitchFamily="2" charset="0"/>
                <a:ea typeface="Roboto Light" panose="02000000000000000000" pitchFamily="2" charset="0"/>
              </a:rPr>
              <a:t>&amp;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308604-00CB-4CAF-BE99-3BC71C8EB201}"/>
              </a:ext>
            </a:extLst>
          </p:cNvPr>
          <p:cNvSpPr txBox="1"/>
          <p:nvPr/>
        </p:nvSpPr>
        <p:spPr>
          <a:xfrm>
            <a:off x="3553541" y="1599031"/>
            <a:ext cx="4570851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33" dirty="0">
                <a:latin typeface="Roboto Light" panose="02000000000000000000" pitchFamily="2" charset="0"/>
                <a:ea typeface="Roboto Light" panose="02000000000000000000" pitchFamily="2" charset="0"/>
              </a:rPr>
              <a:t>Routing based on matching criteria (author affiliation to institution)</a:t>
            </a:r>
          </a:p>
        </p:txBody>
      </p:sp>
      <p:sp>
        <p:nvSpPr>
          <p:cNvPr id="18" name="Line Callout 1 15">
            <a:extLst>
              <a:ext uri="{FF2B5EF4-FFF2-40B4-BE49-F238E27FC236}">
                <a16:creationId xmlns:a16="http://schemas.microsoft.com/office/drawing/2014/main" id="{4644C4C8-5B92-4BFE-BC1E-F61D0134E790}"/>
              </a:ext>
            </a:extLst>
          </p:cNvPr>
          <p:cNvSpPr/>
          <p:nvPr/>
        </p:nvSpPr>
        <p:spPr>
          <a:xfrm>
            <a:off x="1346438" y="4680907"/>
            <a:ext cx="2358140" cy="984885"/>
          </a:xfrm>
          <a:prstGeom prst="borderCallout1">
            <a:avLst>
              <a:gd name="adj1" fmla="val 1936"/>
              <a:gd name="adj2" fmla="val 55611"/>
              <a:gd name="adj3" fmla="val -76823"/>
              <a:gd name="adj4" fmla="val 84973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8A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/>
            <a:r>
              <a:rPr lang="en-GB" sz="20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 acceptance/ publication</a:t>
            </a:r>
          </a:p>
        </p:txBody>
      </p:sp>
      <p:sp>
        <p:nvSpPr>
          <p:cNvPr id="19" name="Line Callout 1 28">
            <a:extLst>
              <a:ext uri="{FF2B5EF4-FFF2-40B4-BE49-F238E27FC236}">
                <a16:creationId xmlns:a16="http://schemas.microsoft.com/office/drawing/2014/main" id="{B9E9F03E-3D96-4707-81F3-C08BFB346838}"/>
              </a:ext>
            </a:extLst>
          </p:cNvPr>
          <p:cNvSpPr/>
          <p:nvPr/>
        </p:nvSpPr>
        <p:spPr>
          <a:xfrm>
            <a:off x="8760978" y="4680907"/>
            <a:ext cx="2378191" cy="984885"/>
          </a:xfrm>
          <a:prstGeom prst="borderCallout1">
            <a:avLst>
              <a:gd name="adj1" fmla="val 35"/>
              <a:gd name="adj2" fmla="val 50777"/>
              <a:gd name="adj3" fmla="val -57118"/>
              <a:gd name="adj4" fmla="val 50876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8A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/>
            <a:r>
              <a:rPr lang="en-GB" sz="20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De-duplication at receiving system</a:t>
            </a:r>
          </a:p>
        </p:txBody>
      </p:sp>
      <p:sp>
        <p:nvSpPr>
          <p:cNvPr id="20" name="Right Arrow 9">
            <a:extLst>
              <a:ext uri="{FF2B5EF4-FFF2-40B4-BE49-F238E27FC236}">
                <a16:creationId xmlns:a16="http://schemas.microsoft.com/office/drawing/2014/main" id="{F115AEDA-A860-4C34-B7A8-02291A0D1378}"/>
              </a:ext>
            </a:extLst>
          </p:cNvPr>
          <p:cNvSpPr/>
          <p:nvPr/>
        </p:nvSpPr>
        <p:spPr>
          <a:xfrm>
            <a:off x="7166175" y="2922343"/>
            <a:ext cx="1828004" cy="1092677"/>
          </a:xfrm>
          <a:prstGeom prst="rightArrow">
            <a:avLst>
              <a:gd name="adj1" fmla="val 65405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rIns="0" rtlCol="0" anchor="ctr"/>
          <a:lstStyle/>
          <a:p>
            <a:r>
              <a:rPr lang="en-GB" sz="2000" dirty="0">
                <a:latin typeface="Roboto Light" panose="02000000000000000000" pitchFamily="2" charset="0"/>
                <a:ea typeface="Roboto Light" panose="02000000000000000000" pitchFamily="2" charset="0"/>
              </a:rPr>
              <a:t>Metadata </a:t>
            </a:r>
            <a:br>
              <a:rPr lang="en-GB" sz="2000" dirty="0">
                <a:latin typeface="Roboto Light" panose="02000000000000000000" pitchFamily="2" charset="0"/>
                <a:ea typeface="Roboto Light" panose="02000000000000000000" pitchFamily="2" charset="0"/>
              </a:rPr>
            </a:br>
            <a:r>
              <a:rPr lang="en-GB" sz="2000" dirty="0">
                <a:latin typeface="Roboto Light" panose="02000000000000000000" pitchFamily="2" charset="0"/>
                <a:ea typeface="Roboto Light" panose="02000000000000000000" pitchFamily="2" charset="0"/>
              </a:rPr>
              <a:t>&amp; text</a:t>
            </a:r>
          </a:p>
        </p:txBody>
      </p:sp>
      <p:sp>
        <p:nvSpPr>
          <p:cNvPr id="21" name="Line Callout 1 28">
            <a:extLst>
              <a:ext uri="{FF2B5EF4-FFF2-40B4-BE49-F238E27FC236}">
                <a16:creationId xmlns:a16="http://schemas.microsoft.com/office/drawing/2014/main" id="{4B4C1926-2D5B-460E-80BE-B89490503D55}"/>
              </a:ext>
            </a:extLst>
          </p:cNvPr>
          <p:cNvSpPr/>
          <p:nvPr/>
        </p:nvSpPr>
        <p:spPr>
          <a:xfrm>
            <a:off x="4412857" y="4680907"/>
            <a:ext cx="2921785" cy="984885"/>
          </a:xfrm>
          <a:prstGeom prst="borderCallout1">
            <a:avLst>
              <a:gd name="adj1" fmla="val 1364"/>
              <a:gd name="adj2" fmla="val 50461"/>
              <a:gd name="adj3" fmla="val -29613"/>
              <a:gd name="adj4" fmla="val 50909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8A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3690" indent="-38099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Provider selection</a:t>
            </a:r>
          </a:p>
          <a:p>
            <a:pPr marL="393690" indent="-38099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Duplicate filtering</a:t>
            </a:r>
          </a:p>
        </p:txBody>
      </p:sp>
    </p:spTree>
    <p:extLst>
      <p:ext uri="{BB962C8B-B14F-4D97-AF65-F5344CB8AC3E}">
        <p14:creationId xmlns:p14="http://schemas.microsoft.com/office/powerpoint/2010/main" val="548287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3DE5-FC35-4AE5-B4A4-89FE1D6B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7" y="452968"/>
            <a:ext cx="9188149" cy="455429"/>
          </a:xfrm>
        </p:spPr>
        <p:txBody>
          <a:bodyPr>
            <a:normAutofit fontScale="90000"/>
          </a:bodyPr>
          <a:lstStyle/>
          <a:p>
            <a:r>
              <a:rPr lang="en-GB" dirty="0"/>
              <a:t>Data interchange matches needs of target system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7EE23-6B18-427C-AF6E-C5F5C210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54"/>
            <a:r>
              <a:rPr lang="en-GB" dirty="0">
                <a:solidFill>
                  <a:srgbClr val="000000"/>
                </a:solidFill>
              </a:rPr>
              <a:t>Jisc Publications Router - populating repositories automatically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EE432-7258-4388-886C-22313682D5E9}"/>
              </a:ext>
            </a:extLst>
          </p:cNvPr>
          <p:cNvSpPr/>
          <p:nvPr/>
        </p:nvSpPr>
        <p:spPr>
          <a:xfrm>
            <a:off x="478367" y="1373750"/>
            <a:ext cx="10677853" cy="452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defTabSz="914354"/>
            <a:endParaRPr lang="en-GB" sz="2400" dirty="0">
              <a:solidFill>
                <a:prstClr val="white">
                  <a:lumMod val="50000"/>
                </a:prst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1CEC28B-CF58-4E52-B30B-D7257E827B56}"/>
              </a:ext>
            </a:extLst>
          </p:cNvPr>
          <p:cNvSpPr/>
          <p:nvPr/>
        </p:nvSpPr>
        <p:spPr>
          <a:xfrm>
            <a:off x="728673" y="2542040"/>
            <a:ext cx="1325987" cy="908649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Publisher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D6038580-4AD0-4D0C-A881-DDB5EBEA22A5}"/>
              </a:ext>
            </a:extLst>
          </p:cNvPr>
          <p:cNvSpPr/>
          <p:nvPr/>
        </p:nvSpPr>
        <p:spPr>
          <a:xfrm>
            <a:off x="8886000" y="4558134"/>
            <a:ext cx="1876059" cy="908649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54"/>
            <a:r>
              <a:rPr lang="en-GB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CRIS/ RIMS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5B6C07EC-B229-42E9-88E2-987F2F9C909E}"/>
              </a:ext>
            </a:extLst>
          </p:cNvPr>
          <p:cNvSpPr/>
          <p:nvPr/>
        </p:nvSpPr>
        <p:spPr>
          <a:xfrm>
            <a:off x="3507475" y="2674475"/>
            <a:ext cx="1325987" cy="656248"/>
          </a:xfrm>
          <a:prstGeom prst="flowChartAlternateProcess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Router API</a:t>
            </a:r>
          </a:p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push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F7396360-B900-441D-9752-E2D750D41122}"/>
              </a:ext>
            </a:extLst>
          </p:cNvPr>
          <p:cNvSpPr/>
          <p:nvPr/>
        </p:nvSpPr>
        <p:spPr>
          <a:xfrm>
            <a:off x="6103541" y="4686723"/>
            <a:ext cx="1368869" cy="656248"/>
          </a:xfrm>
          <a:prstGeom prst="flowChartAlternateProcess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Router API</a:t>
            </a:r>
          </a:p>
          <a:p>
            <a:pPr algn="r"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pull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457EB44-2596-41AE-A968-2B25B14893E4}"/>
              </a:ext>
            </a:extLst>
          </p:cNvPr>
          <p:cNvSpPr/>
          <p:nvPr/>
        </p:nvSpPr>
        <p:spPr>
          <a:xfrm>
            <a:off x="3514709" y="1811246"/>
            <a:ext cx="1319747" cy="657704"/>
          </a:xfrm>
          <a:prstGeom prst="flowChartAlternateProcess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FTP</a:t>
            </a:r>
          </a:p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push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039B770E-2A31-44C7-AFAB-E0EAACDE369A}"/>
              </a:ext>
            </a:extLst>
          </p:cNvPr>
          <p:cNvSpPr/>
          <p:nvPr/>
        </p:nvSpPr>
        <p:spPr>
          <a:xfrm>
            <a:off x="6100736" y="2557745"/>
            <a:ext cx="1362428" cy="656248"/>
          </a:xfrm>
          <a:prstGeom prst="flowChartAlternateProcess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SWORD2 push</a:t>
            </a:r>
          </a:p>
        </p:txBody>
      </p:sp>
      <p:sp>
        <p:nvSpPr>
          <p:cNvPr id="15" name="Pentagon 10">
            <a:extLst>
              <a:ext uri="{FF2B5EF4-FFF2-40B4-BE49-F238E27FC236}">
                <a16:creationId xmlns:a16="http://schemas.microsoft.com/office/drawing/2014/main" id="{B1BF0FB2-D21C-46E7-BA17-642E2FF62EAC}"/>
              </a:ext>
            </a:extLst>
          </p:cNvPr>
          <p:cNvSpPr/>
          <p:nvPr/>
        </p:nvSpPr>
        <p:spPr>
          <a:xfrm>
            <a:off x="2175989" y="1811248"/>
            <a:ext cx="1241557" cy="658235"/>
          </a:xfrm>
          <a:prstGeom prst="homePlate">
            <a:avLst>
              <a:gd name="adj" fmla="val 22402"/>
            </a:avLst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54"/>
            <a:r>
              <a:rPr lang="en-GB" sz="14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JATS XML + Binary files</a:t>
            </a:r>
          </a:p>
        </p:txBody>
      </p:sp>
      <p:sp>
        <p:nvSpPr>
          <p:cNvPr id="16" name="Pentagon 37">
            <a:extLst>
              <a:ext uri="{FF2B5EF4-FFF2-40B4-BE49-F238E27FC236}">
                <a16:creationId xmlns:a16="http://schemas.microsoft.com/office/drawing/2014/main" id="{D7C85C92-6B8E-4D73-BB1E-81006DCC8DC5}"/>
              </a:ext>
            </a:extLst>
          </p:cNvPr>
          <p:cNvSpPr/>
          <p:nvPr/>
        </p:nvSpPr>
        <p:spPr>
          <a:xfrm>
            <a:off x="2175989" y="2692466"/>
            <a:ext cx="1241557" cy="645345"/>
          </a:xfrm>
          <a:prstGeom prst="homePlate">
            <a:avLst>
              <a:gd name="adj" fmla="val 34687"/>
            </a:avLst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54"/>
            <a:r>
              <a:rPr lang="en-GB" sz="14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JSON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6131DA69-BB54-4A51-A3B5-6638627B72F4}"/>
              </a:ext>
            </a:extLst>
          </p:cNvPr>
          <p:cNvSpPr/>
          <p:nvPr/>
        </p:nvSpPr>
        <p:spPr>
          <a:xfrm>
            <a:off x="8886000" y="1741716"/>
            <a:ext cx="1876059" cy="532155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54"/>
            <a:r>
              <a:rPr lang="en-GB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Vanilla EPrints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A132AEA9-85C8-4970-8D86-8F8B41CBF977}"/>
              </a:ext>
            </a:extLst>
          </p:cNvPr>
          <p:cNvSpPr/>
          <p:nvPr/>
        </p:nvSpPr>
        <p:spPr>
          <a:xfrm>
            <a:off x="8878773" y="2387185"/>
            <a:ext cx="1883287" cy="532155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54"/>
            <a:r>
              <a:rPr lang="en-GB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RIOXX EPrints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7A79A400-A726-47BF-9A19-EAACD29E6988}"/>
              </a:ext>
            </a:extLst>
          </p:cNvPr>
          <p:cNvSpPr/>
          <p:nvPr/>
        </p:nvSpPr>
        <p:spPr>
          <a:xfrm>
            <a:off x="8879227" y="3025008"/>
            <a:ext cx="1883287" cy="532155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54"/>
            <a:r>
              <a:rPr lang="en-GB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Vanilla DSpace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D8CE6DDC-E011-458F-B895-C5F61DA983B8}"/>
              </a:ext>
            </a:extLst>
          </p:cNvPr>
          <p:cNvSpPr/>
          <p:nvPr/>
        </p:nvSpPr>
        <p:spPr>
          <a:xfrm>
            <a:off x="8875354" y="3662829"/>
            <a:ext cx="1887161" cy="532155"/>
          </a:xfrm>
          <a:prstGeom prst="flowChartAlternateProcess">
            <a:avLst/>
          </a:prstGeom>
          <a:solidFill>
            <a:srgbClr val="327E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54"/>
            <a:r>
              <a:rPr lang="en-GB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RIOXX DSpace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4FB188-BEC2-68C8-30EF-64DF12663425}"/>
              </a:ext>
            </a:extLst>
          </p:cNvPr>
          <p:cNvGrpSpPr/>
          <p:nvPr/>
        </p:nvGrpSpPr>
        <p:grpSpPr>
          <a:xfrm>
            <a:off x="7513331" y="2071230"/>
            <a:ext cx="1151145" cy="1774749"/>
            <a:chOff x="7749369" y="2071230"/>
            <a:chExt cx="915107" cy="1774749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3CF63B2-64BC-4E4B-85C9-4FD1C486C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945" y="2715052"/>
              <a:ext cx="839899" cy="80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7A42D0A-3CE6-42B7-99D1-E493BDE575DA}"/>
                </a:ext>
              </a:extLst>
            </p:cNvPr>
            <p:cNvCxnSpPr>
              <a:cxnSpLocks/>
            </p:cNvCxnSpPr>
            <p:nvPr/>
          </p:nvCxnSpPr>
          <p:spPr>
            <a:xfrm>
              <a:off x="7817945" y="3065365"/>
              <a:ext cx="846531" cy="2257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CFF544D-8DD7-4B7F-9197-4801C2E04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947" y="2071230"/>
              <a:ext cx="839895" cy="4349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029A568-0A4D-422E-A587-0A59903E31D5}"/>
                </a:ext>
              </a:extLst>
            </p:cNvPr>
            <p:cNvCxnSpPr>
              <a:cxnSpLocks/>
            </p:cNvCxnSpPr>
            <p:nvPr/>
          </p:nvCxnSpPr>
          <p:spPr>
            <a:xfrm>
              <a:off x="7749369" y="3365527"/>
              <a:ext cx="908472" cy="4804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id="{60924076-8A00-4C69-ABD3-F38FD5559DCB}"/>
              </a:ext>
            </a:extLst>
          </p:cNvPr>
          <p:cNvSpPr/>
          <p:nvPr/>
        </p:nvSpPr>
        <p:spPr>
          <a:xfrm>
            <a:off x="729537" y="4567099"/>
            <a:ext cx="1325987" cy="908649"/>
          </a:xfrm>
          <a:prstGeom prst="flowChartAlternateProces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Provider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1FE525D-1940-46E6-BA72-6D8921FAE536}"/>
              </a:ext>
            </a:extLst>
          </p:cNvPr>
          <p:cNvCxnSpPr>
            <a:cxnSpLocks/>
          </p:cNvCxnSpPr>
          <p:nvPr/>
        </p:nvCxnSpPr>
        <p:spPr>
          <a:xfrm flipH="1">
            <a:off x="2253374" y="5021426"/>
            <a:ext cx="901471" cy="1"/>
          </a:xfrm>
          <a:prstGeom prst="straightConnector1">
            <a:avLst/>
          </a:prstGeom>
          <a:ln w="38100">
            <a:headEnd type="arrow" w="med" len="sm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2753E289-5C5B-480E-BE66-741BBF8B03BB}"/>
              </a:ext>
            </a:extLst>
          </p:cNvPr>
          <p:cNvSpPr/>
          <p:nvPr/>
        </p:nvSpPr>
        <p:spPr>
          <a:xfrm>
            <a:off x="3507474" y="4695688"/>
            <a:ext cx="1325987" cy="656248"/>
          </a:xfrm>
          <a:prstGeom prst="flowChartAlternateProcess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Harvester</a:t>
            </a:r>
          </a:p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pull</a:t>
            </a:r>
          </a:p>
        </p:txBody>
      </p:sp>
      <p:sp>
        <p:nvSpPr>
          <p:cNvPr id="43" name="Pentagon 37">
            <a:extLst>
              <a:ext uri="{FF2B5EF4-FFF2-40B4-BE49-F238E27FC236}">
                <a16:creationId xmlns:a16="http://schemas.microsoft.com/office/drawing/2014/main" id="{1A4DAE60-3203-48C9-8FCE-5D45BB3D86FF}"/>
              </a:ext>
            </a:extLst>
          </p:cNvPr>
          <p:cNvSpPr/>
          <p:nvPr/>
        </p:nvSpPr>
        <p:spPr>
          <a:xfrm>
            <a:off x="7660641" y="4697626"/>
            <a:ext cx="1092205" cy="645345"/>
          </a:xfrm>
          <a:prstGeom prst="homePlate">
            <a:avLst>
              <a:gd name="adj" fmla="val 34687"/>
            </a:avLst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54"/>
            <a:r>
              <a:rPr lang="en-GB" sz="14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JSON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D54C68A8-9EB9-1D4E-E964-C94247D102D3}"/>
              </a:ext>
            </a:extLst>
          </p:cNvPr>
          <p:cNvSpPr/>
          <p:nvPr/>
        </p:nvSpPr>
        <p:spPr>
          <a:xfrm>
            <a:off x="3525400" y="3544055"/>
            <a:ext cx="1325987" cy="656248"/>
          </a:xfrm>
          <a:prstGeom prst="flowChartAlternateProcess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SWORD2</a:t>
            </a:r>
          </a:p>
          <a:p>
            <a:pPr defTabSz="914354"/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push</a:t>
            </a:r>
          </a:p>
        </p:txBody>
      </p:sp>
      <p:sp>
        <p:nvSpPr>
          <p:cNvPr id="17" name="Pentagon 10">
            <a:extLst>
              <a:ext uri="{FF2B5EF4-FFF2-40B4-BE49-F238E27FC236}">
                <a16:creationId xmlns:a16="http://schemas.microsoft.com/office/drawing/2014/main" id="{3551CD8F-F3A1-9B2B-4293-52FD2141F727}"/>
              </a:ext>
            </a:extLst>
          </p:cNvPr>
          <p:cNvSpPr/>
          <p:nvPr/>
        </p:nvSpPr>
        <p:spPr>
          <a:xfrm>
            <a:off x="2175990" y="3550402"/>
            <a:ext cx="1241557" cy="658235"/>
          </a:xfrm>
          <a:prstGeom prst="homePlate">
            <a:avLst>
              <a:gd name="adj" fmla="val 22402"/>
            </a:avLst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54"/>
            <a:r>
              <a:rPr lang="en-GB" sz="14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JATS XML + Binary files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76A93A-F204-45AB-B154-03A3D39207AD}"/>
              </a:ext>
            </a:extLst>
          </p:cNvPr>
          <p:cNvSpPr/>
          <p:nvPr/>
        </p:nvSpPr>
        <p:spPr>
          <a:xfrm>
            <a:off x="4683827" y="1600488"/>
            <a:ext cx="1563224" cy="4028154"/>
          </a:xfrm>
          <a:prstGeom prst="rect">
            <a:avLst/>
          </a:prstGeom>
          <a:solidFill>
            <a:srgbClr val="E66914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54"/>
            <a:r>
              <a:rPr lang="en-GB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Jisc</a:t>
            </a:r>
            <a:r>
              <a:rPr lang="en-GB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Publications Router</a:t>
            </a:r>
          </a:p>
        </p:txBody>
      </p:sp>
    </p:spTree>
    <p:extLst>
      <p:ext uri="{BB962C8B-B14F-4D97-AF65-F5344CB8AC3E}">
        <p14:creationId xmlns:p14="http://schemas.microsoft.com/office/powerpoint/2010/main" val="1179254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74ab5af0-29d9-4a2f-b5fb-c11d37c2f5e4">N7XHR37R3CPZ-517733791-5854</_dlc_DocId>
    <_dlc_DocIdUrl xmlns="74ab5af0-29d9-4a2f-b5fb-c11d37c2f5e4">
      <Url>https://jisc365.sharepoint.com/sites/dcrd/OAdev/_layouts/15/DocIdRedir.aspx?ID=N7XHR37R3CPZ-517733791-5854</Url>
      <Description>N7XHR37R3CPZ-517733791-5854</Description>
    </_dlc_DocIdUrl>
    <_ip_UnifiedCompliancePolicyProperties xmlns="http://schemas.microsoft.com/sharepoint/v3" xsi:nil="true"/>
    <SharedWithUsers xmlns="ff98f93a-9c04-46d6-bd99-cde0079c87c0">
      <UserInfo>
        <DisplayName/>
        <AccountId xsi:nil="true"/>
        <AccountType/>
      </UserInfo>
    </SharedWithUsers>
    <_vti_ItemDeclaredRecord xmlns="http://schemas.microsoft.com/sharepoint/v3" xsi:nil="true"/>
    <MediaServiceAutoTags xmlns="60e8b98e-a8b7-4a53-bc2f-509dd8c3a987" xsi:nil="true"/>
    <SharedWithDetails xmlns="ff98f93a-9c04-46d6-bd99-cde0079c87c0" xsi:nil="true"/>
    <_ip_UnifiedCompliancePolicyUIAction xmlns="http://schemas.microsoft.com/sharepoint/v3" xsi:nil="true"/>
    <IconOverlay xmlns="http://schemas.microsoft.com/sharepoint/v4" xsi:nil="true"/>
    <lcf76f155ced4ddcb4097134ff3c332f xmlns="60e8b98e-a8b7-4a53-bc2f-509dd8c3a987">
      <Terms xmlns="http://schemas.microsoft.com/office/infopath/2007/PartnerControls"/>
    </lcf76f155ced4ddcb4097134ff3c332f>
    <p0236d4d144d4627bcb169c5987c2c89 xmlns="7c455f33-77d2-4545-9ec6-8ece34099d2f">
      <Terms xmlns="http://schemas.microsoft.com/office/infopath/2007/PartnerControls"/>
    </p0236d4d144d4627bcb169c5987c2c89>
    <b89bde72cd604427a006be6ed1d4a50e xmlns="7c455f33-77d2-4545-9ec6-8ece34099d2f">
      <Terms xmlns="http://schemas.microsoft.com/office/infopath/2007/PartnerControls"/>
    </b89bde72cd604427a006be6ed1d4a50e>
    <TaxCatchAll xmlns="7c455f33-77d2-4545-9ec6-8ece34099d2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4860087406EA40B9AB34F3426B84E0" ma:contentTypeVersion="467" ma:contentTypeDescription="Create a new document." ma:contentTypeScope="" ma:versionID="8510cd7a2a15e8fbd9cda5f1362d14e2">
  <xsd:schema xmlns:xsd="http://www.w3.org/2001/XMLSchema" xmlns:xs="http://www.w3.org/2001/XMLSchema" xmlns:p="http://schemas.microsoft.com/office/2006/metadata/properties" xmlns:ns1="http://schemas.microsoft.com/sharepoint/v3" xmlns:ns2="7c455f33-77d2-4545-9ec6-8ece34099d2f" xmlns:ns3="60e8b98e-a8b7-4a53-bc2f-509dd8c3a987" xmlns:ns4="http://schemas.microsoft.com/sharepoint/v4" xmlns:ns5="ff98f93a-9c04-46d6-bd99-cde0079c87c0" xmlns:ns6="74ab5af0-29d9-4a2f-b5fb-c11d37c2f5e4" targetNamespace="http://schemas.microsoft.com/office/2006/metadata/properties" ma:root="true" ma:fieldsID="8320a94a90ddce8ff543e7b884678ca6" ns1:_="" ns2:_="" ns3:_="" ns4:_="" ns5:_="" ns6:_="">
    <xsd:import namespace="http://schemas.microsoft.com/sharepoint/v3"/>
    <xsd:import namespace="7c455f33-77d2-4545-9ec6-8ece34099d2f"/>
    <xsd:import namespace="60e8b98e-a8b7-4a53-bc2f-509dd8c3a987"/>
    <xsd:import namespace="http://schemas.microsoft.com/sharepoint/v4"/>
    <xsd:import namespace="ff98f93a-9c04-46d6-bd99-cde0079c87c0"/>
    <xsd:import namespace="74ab5af0-29d9-4a2f-b5fb-c11d37c2f5e4"/>
    <xsd:element name="properties">
      <xsd:complexType>
        <xsd:sequence>
          <xsd:element name="documentManagement">
            <xsd:complexType>
              <xsd:all>
                <xsd:element ref="ns2:b89bde72cd604427a006be6ed1d4a50e" minOccurs="0"/>
                <xsd:element ref="ns2:TaxCatchAll" minOccurs="0"/>
                <xsd:element ref="ns2:TaxCatchAllLabel" minOccurs="0"/>
                <xsd:element ref="ns2:p0236d4d144d4627bcb169c5987c2c89" minOccurs="0"/>
                <xsd:element ref="ns1:_ip_UnifiedCompliancePolicyUIAct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4:IconOverlay" minOccurs="0"/>
                <xsd:element ref="ns1:_vti_ItemDeclaredRecord" minOccurs="0"/>
                <xsd:element ref="ns1:_vti_ItemHoldRecordStatus" minOccurs="0"/>
                <xsd:element ref="ns5:SharedWithUsers" minOccurs="0"/>
                <xsd:element ref="ns5:SharedWithDetails" minOccurs="0"/>
                <xsd:element ref="ns1:_ip_UnifiedCompliancePolicyProperties" minOccurs="0"/>
                <xsd:element ref="ns6:_dlc_DocId" minOccurs="0"/>
                <xsd:element ref="ns6:_dlc_DocIdUrl" minOccurs="0"/>
                <xsd:element ref="ns6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UIAction" ma:index="14" nillable="true" ma:displayName="Unified Compliance Policy UI Action" ma:description="" ma:hidden="true" ma:internalName="_ip_UnifiedCompliancePolicyUIAction">
      <xsd:simpleType>
        <xsd:restriction base="dms:Text"/>
      </xsd:simpleType>
    </xsd:element>
    <xsd:element name="_vti_ItemDeclaredRecord" ma:index="30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31" nillable="true" ma:displayName="Hold and Record Status" ma:decimals="0" ma:description="" ma:hidden="true" ma:indexed="true" ma:internalName="_vti_ItemHoldRecordStatus" ma:readOnly="true">
      <xsd:simpleType>
        <xsd:restriction base="dms:Unknown"/>
      </xsd:simpleType>
    </xsd:element>
    <xsd:element name="_ip_UnifiedCompliancePolicyProperties" ma:index="34" nillable="true" ma:displayName="Unified Compliance Policy Properties" ma:description="" ma:hidden="true" ma:internalName="_ip_UnifiedCompliancePolicyProperties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455f33-77d2-4545-9ec6-8ece34099d2f" elementFormDefault="qualified">
    <xsd:import namespace="http://schemas.microsoft.com/office/2006/documentManagement/types"/>
    <xsd:import namespace="http://schemas.microsoft.com/office/infopath/2007/PartnerControls"/>
    <xsd:element name="b89bde72cd604427a006be6ed1d4a50e" ma:index="8" nillable="true" ma:taxonomy="true" ma:internalName="b89bde72cd604427a006be6ed1d4a50e" ma:taxonomyFieldName="Business_x0020_Function" ma:displayName="Business Function" ma:default="" ma:fieldId="{b89bde72-cd60-4427-a006-be6ed1d4a50e}" ma:sspId="79c6cfb5-50bc-4fca-81ee-f60fcea9a646" ma:termSetId="e083faab-cda4-4174-a470-765f029b000e" ma:anchorId="0dc13b50-433d-4bdb-999d-681bda683d09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9756b34-18be-4809-a8e4-9d6cdf184c79}" ma:internalName="TaxCatchAll" ma:showField="CatchAllData" ma:web="79ed8d8e-735d-4020-8679-fc6c7b35ba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9756b34-18be-4809-a8e4-9d6cdf184c79}" ma:internalName="TaxCatchAllLabel" ma:readOnly="true" ma:showField="CatchAllDataLabel" ma:web="79ed8d8e-735d-4020-8679-fc6c7b35ba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0236d4d144d4627bcb169c5987c2c89" ma:index="12" nillable="true" ma:taxonomy="true" ma:internalName="p0236d4d144d4627bcb169c5987c2c89" ma:taxonomyFieldName="Business_x0020_Activitiy" ma:displayName="Business Activity" ma:fieldId="{90236d4d-144d-4627-bcb1-69c5987c2c89}" ma:sspId="79c6cfb5-50bc-4fca-81ee-f60fcea9a646" ma:termSetId="e083faab-cda4-4174-a470-765f029b000e" ma:anchorId="de6fb188-fa74-481c-913e-47f98ad515a8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8b98e-a8b7-4a53-bc2f-509dd8c3a9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79c6cfb5-50bc-4fca-81ee-f60fcea9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8f93a-9c04-46d6-bd99-cde0079c87c0" elementFormDefault="qualified">
    <xsd:import namespace="http://schemas.microsoft.com/office/2006/documentManagement/types"/>
    <xsd:import namespace="http://schemas.microsoft.com/office/infopath/2007/PartnerControls"/>
    <xsd:element name="SharedWithUsers" ma:index="3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b5af0-29d9-4a2f-b5fb-c11d37c2f5e4" elementFormDefault="qualified">
    <xsd:import namespace="http://schemas.microsoft.com/office/2006/documentManagement/types"/>
    <xsd:import namespace="http://schemas.microsoft.com/office/infopath/2007/PartnerControls"/>
    <xsd:element name="_dlc_DocId" ma:index="35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3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37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?mso-contentType ?>
<SharedContentType xmlns="Microsoft.SharePoint.Taxonomy.ContentTypeSync" SourceId="79c6cfb5-50bc-4fca-81ee-f60fcea9a646" ContentTypeId="0x0101" PreviousValue="false"/>
</file>

<file path=customXml/itemProps1.xml><?xml version="1.0" encoding="utf-8"?>
<ds:datastoreItem xmlns:ds="http://schemas.openxmlformats.org/officeDocument/2006/customXml" ds:itemID="{0B863852-4220-4B00-9611-1CF43A44EA3D}">
  <ds:schemaRefs>
    <ds:schemaRef ds:uri="http://www.w3.org/XML/1998/namespace"/>
    <ds:schemaRef ds:uri="ff98f93a-9c04-46d6-bd99-cde0079c87c0"/>
    <ds:schemaRef ds:uri="http://schemas.microsoft.com/office/2006/metadata/properties"/>
    <ds:schemaRef ds:uri="http://purl.org/dc/terms/"/>
    <ds:schemaRef ds:uri="7c455f33-77d2-4545-9ec6-8ece34099d2f"/>
    <ds:schemaRef ds:uri="http://schemas.microsoft.com/sharepoint/v3"/>
    <ds:schemaRef ds:uri="http://purl.org/dc/elements/1.1/"/>
    <ds:schemaRef ds:uri="74ab5af0-29d9-4a2f-b5fb-c11d37c2f5e4"/>
    <ds:schemaRef ds:uri="http://schemas.microsoft.com/office/2006/documentManagement/types"/>
    <ds:schemaRef ds:uri="http://schemas.microsoft.com/sharepoint/v4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60e8b98e-a8b7-4a53-bc2f-509dd8c3a987"/>
  </ds:schemaRefs>
</ds:datastoreItem>
</file>

<file path=customXml/itemProps2.xml><?xml version="1.0" encoding="utf-8"?>
<ds:datastoreItem xmlns:ds="http://schemas.openxmlformats.org/officeDocument/2006/customXml" ds:itemID="{CBA58DFD-3B04-4693-92A1-0F777D904B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c455f33-77d2-4545-9ec6-8ece34099d2f"/>
    <ds:schemaRef ds:uri="60e8b98e-a8b7-4a53-bc2f-509dd8c3a987"/>
    <ds:schemaRef ds:uri="http://schemas.microsoft.com/sharepoint/v4"/>
    <ds:schemaRef ds:uri="ff98f93a-9c04-46d6-bd99-cde0079c87c0"/>
    <ds:schemaRef ds:uri="74ab5af0-29d9-4a2f-b5fb-c11d37c2f5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F16924-929A-4A61-85DE-D8E65DDBA8E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AD2D818-7EFC-4C03-A404-C83D1E0978A2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20D73CA4-7E9A-42D7-ACE4-68F97D335795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ec1a080c-7386-44f3-81c6-2c71b2b3b237}" enabled="1" method="Standard" siteId="{48f9394d-8a14-4d27-82a6-f35f1236120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Widescreen</PresentationFormat>
  <Paragraphs>188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Roboto</vt:lpstr>
      <vt:lpstr>Roboto Black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Workflow </vt:lpstr>
      <vt:lpstr>Data interchange matches needs of target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Adam Rehin</dc:creator>
  <cp:lastModifiedBy>Adam Rehin</cp:lastModifiedBy>
  <cp:revision>63</cp:revision>
  <dcterms:created xsi:type="dcterms:W3CDTF">2015-09-02T12:42:52Z</dcterms:created>
  <dcterms:modified xsi:type="dcterms:W3CDTF">2026-03-27T12:56:53Z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0x010100644860087406EA40B9AB34F3426B84E0</vt:lpwstr>
  </property>
  <property fmtid="{D5CDD505-2E9C-101B-9397-08002B2CF9AE}" pid="3" name="_dlc_policyId">
    <vt:lpwstr>0x01010083127FB3521D6B4589532B3FC47EFAB3|-573836476</vt:lpwstr>
  </property>
  <property fmtid="{D5CDD505-2E9C-101B-9397-08002B2CF9AE}" pid="4" name="ItemRetentionFormula">
    <vt:lpwstr>&lt;formula id="Microsoft.Office.RecordsManagement.PolicyFeatures.Expiration.Formula.BuiltIn"&gt;&lt;number&gt;6&lt;/number&gt;&lt;property&gt;Created&lt;/property&gt;&lt;propertyId&gt;8c06beca-0777-48f7-91c7-6da68bc07b69&lt;/propertyId&gt;&lt;period&gt;years&lt;/period&gt;&lt;/formula&gt;</vt:lpwstr>
  </property>
  <property fmtid="{D5CDD505-2E9C-101B-9397-08002B2CF9AE}" pid="5" name="_dlc_DocIdItemGuid">
    <vt:lpwstr>7fb2c5a0-023e-4269-8792-9e8698dc3fac</vt:lpwstr>
  </property>
  <property fmtid="{D5CDD505-2E9C-101B-9397-08002B2CF9AE}" pid="6" name="Project Title">
    <vt:lpwstr/>
  </property>
  <property fmtid="{D5CDD505-2E9C-101B-9397-08002B2CF9AE}" pid="7" name="Document Descriptor">
    <vt:lpwstr/>
  </property>
  <property fmtid="{D5CDD505-2E9C-101B-9397-08002B2CF9AE}" pid="8" name="TaxCatchAll">
    <vt:lpwstr/>
  </property>
  <property fmtid="{D5CDD505-2E9C-101B-9397-08002B2CF9AE}" pid="9" name="_dlc_ExpireDate">
    <vt:filetime>2023-04-05T15:52:42Z</vt:filetime>
  </property>
  <property fmtid="{D5CDD505-2E9C-101B-9397-08002B2CF9AE}" pid="10" name="Created By">
    <vt:lpwstr>i:0#.f|membership|karmele.hernaiz@jisc.ac.uk</vt:lpwstr>
  </property>
  <property fmtid="{D5CDD505-2E9C-101B-9397-08002B2CF9AE}" pid="11" name="Modified By">
    <vt:lpwstr>i:0#.f|membership|karmele.hernaiz@jisc.ac.uk</vt:lpwstr>
  </property>
  <property fmtid="{D5CDD505-2E9C-101B-9397-08002B2CF9AE}" pid="12" name="FileLeafRef">
    <vt:lpwstr>Router Tech Architecture Graphics v5.pptx</vt:lpwstr>
  </property>
  <property fmtid="{D5CDD505-2E9C-101B-9397-08002B2CF9AE}" pid="13" name="MediaServiceImageTags">
    <vt:lpwstr/>
  </property>
  <property fmtid="{D5CDD505-2E9C-101B-9397-08002B2CF9AE}" pid="14" name="Business_x0020_Function">
    <vt:lpwstr/>
  </property>
  <property fmtid="{D5CDD505-2E9C-101B-9397-08002B2CF9AE}" pid="15" name="Business_x0020_Activitiy">
    <vt:lpwstr/>
  </property>
  <property fmtid="{D5CDD505-2E9C-101B-9397-08002B2CF9AE}" pid="16" name="Business Activitiy">
    <vt:lpwstr/>
  </property>
  <property fmtid="{D5CDD505-2E9C-101B-9397-08002B2CF9AE}" pid="17" name="Business Function">
    <vt:lpwstr/>
  </property>
</Properties>
</file>